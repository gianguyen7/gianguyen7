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embeddedFontLst>
    <p:embeddedFont>
      <p:font typeface="Play"/>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Hi Everyone,</a:t>
            </a:r>
            <a:endParaRPr/>
          </a:p>
          <a:p>
            <a:pPr indent="0" lvl="0" marL="0" rtl="0" algn="l">
              <a:spcBef>
                <a:spcPts val="0"/>
              </a:spcBef>
              <a:spcAft>
                <a:spcPts val="0"/>
              </a:spcAft>
              <a:buNone/>
            </a:pPr>
            <a:r>
              <a:rPr lang="en-US"/>
              <a:t>We have done an EDA to assess the impact of weather on Formula 1 Driver Performance. This was done by Gia, Akin, and me!</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a55fed9120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a55fed912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Formula 1 has exploded in popularity in the US in recent years, due to a hit documentary series on Netflix called Drive to Survive, and added races in the US including the Las Vegas Grand Prix this year.</a:t>
            </a:r>
            <a:endParaRPr/>
          </a:p>
          <a:p>
            <a:pPr indent="0" lvl="0" marL="0" rtl="0" algn="l">
              <a:lnSpc>
                <a:spcPct val="115000"/>
              </a:lnSpc>
              <a:spcBef>
                <a:spcPts val="0"/>
              </a:spcBef>
              <a:spcAft>
                <a:spcPts val="0"/>
              </a:spcAft>
              <a:buNone/>
            </a:pPr>
            <a:r>
              <a:rPr lang="en-US" sz="1200">
                <a:solidFill>
                  <a:schemeClr val="dk1"/>
                </a:solidFill>
                <a:latin typeface="Times New Roman"/>
                <a:ea typeface="Times New Roman"/>
                <a:cs typeface="Times New Roman"/>
                <a:sym typeface="Times New Roman"/>
              </a:rPr>
              <a:t>While weather impacts many outdoor sports, there is a unique relationship between Formula 1 drivers and weather, as drivers and cars both have reputations for performing in certain weather conditions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200">
                <a:solidFill>
                  <a:schemeClr val="dk1"/>
                </a:solidFill>
                <a:latin typeface="Times New Roman"/>
                <a:ea typeface="Times New Roman"/>
                <a:cs typeface="Times New Roman"/>
                <a:sym typeface="Times New Roman"/>
              </a:rPr>
              <a:t>In hot temperatures, drivers face the challenge of dehydration, with potential weight loss of up to 5% during the race, along with other factors like accelerated tire wear</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200">
                <a:solidFill>
                  <a:schemeClr val="dk1"/>
                </a:solidFill>
                <a:latin typeface="Times New Roman"/>
                <a:ea typeface="Times New Roman"/>
                <a:cs typeface="Times New Roman"/>
                <a:sym typeface="Times New Roman"/>
              </a:rPr>
              <a:t>and in cold temperatures and wet conditions, drivers face reduced visibility and declining brake performance</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200">
                <a:solidFill>
                  <a:schemeClr val="dk1"/>
                </a:solidFill>
                <a:latin typeface="Times New Roman"/>
                <a:ea typeface="Times New Roman"/>
                <a:cs typeface="Times New Roman"/>
                <a:sym typeface="Times New Roman"/>
              </a:rPr>
              <a:t>Because of the added races in places like Las Vegas and Jeddah, there are new weather conditions and challenges that drivers are facing with each season.</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We were interested to explore an outside factor like weather on the effects of Formula 1 driver performance.</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a55fed9120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a55fed912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This led us to our overall research question:</a:t>
            </a:r>
            <a:endParaRPr/>
          </a:p>
          <a:p>
            <a:pPr indent="0" lvl="0" marL="0" rtl="0" algn="l">
              <a:spcBef>
                <a:spcPts val="0"/>
              </a:spcBef>
              <a:spcAft>
                <a:spcPts val="0"/>
              </a:spcAft>
              <a:buNone/>
            </a:pPr>
            <a:r>
              <a:rPr lang="en-US"/>
              <a:t>What is the impact of weather on Formula 1 in the 2018 to 2023 seasons? We have defined three subquestions that we will go into detail on in the following slides.</a:t>
            </a:r>
            <a:endParaRPr/>
          </a:p>
          <a:p>
            <a:pPr indent="0" lvl="0" marL="0" rtl="0" algn="l">
              <a:spcBef>
                <a:spcPts val="0"/>
              </a:spcBef>
              <a:spcAft>
                <a:spcPts val="0"/>
              </a:spcAft>
              <a:buNone/>
            </a:pPr>
            <a:r>
              <a:rPr lang="en-US"/>
              <a:t>Before we dive into the analysis, we need to define some key terms: </a:t>
            </a:r>
            <a:endParaRPr/>
          </a:p>
          <a:p>
            <a:pPr indent="0" lvl="0" marL="0" rtl="0" algn="l">
              <a:lnSpc>
                <a:spcPct val="115000"/>
              </a:lnSpc>
              <a:spcBef>
                <a:spcPts val="0"/>
              </a:spcBef>
              <a:spcAft>
                <a:spcPts val="0"/>
              </a:spcAft>
              <a:buNone/>
            </a:pPr>
            <a:r>
              <a:rPr b="1" lang="en-US" sz="1200">
                <a:solidFill>
                  <a:schemeClr val="dk1"/>
                </a:solidFill>
                <a:latin typeface="Times New Roman"/>
                <a:ea typeface="Times New Roman"/>
                <a:cs typeface="Times New Roman"/>
                <a:sym typeface="Times New Roman"/>
              </a:rPr>
              <a:t>Formula 1: </a:t>
            </a:r>
            <a:r>
              <a:rPr lang="en-US" sz="1200">
                <a:solidFill>
                  <a:schemeClr val="dk1"/>
                </a:solidFill>
                <a:latin typeface="Times New Roman"/>
                <a:ea typeface="Times New Roman"/>
                <a:cs typeface="Times New Roman"/>
                <a:sym typeface="Times New Roman"/>
              </a:rPr>
              <a:t>Formula 1 is a motorsport that is the highest class of international racing for single-seater formula racing cars.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200">
                <a:solidFill>
                  <a:schemeClr val="dk1"/>
                </a:solidFill>
                <a:latin typeface="Times New Roman"/>
                <a:ea typeface="Times New Roman"/>
                <a:cs typeface="Times New Roman"/>
                <a:sym typeface="Times New Roman"/>
              </a:rPr>
              <a:t>Teams: </a:t>
            </a:r>
            <a:r>
              <a:rPr lang="en-US" sz="1200">
                <a:solidFill>
                  <a:schemeClr val="dk1"/>
                </a:solidFill>
                <a:latin typeface="Times New Roman"/>
                <a:ea typeface="Times New Roman"/>
                <a:cs typeface="Times New Roman"/>
                <a:sym typeface="Times New Roman"/>
              </a:rPr>
              <a:t>There are 10 Formula 1 teams per season, with a total of 14 teams in our dataset </a:t>
            </a:r>
            <a:r>
              <a:rPr lang="en-US" sz="1200">
                <a:solidFill>
                  <a:schemeClr val="dk1"/>
                </a:solidFill>
                <a:latin typeface="Times New Roman"/>
                <a:ea typeface="Times New Roman"/>
                <a:cs typeface="Times New Roman"/>
                <a:sym typeface="Times New Roman"/>
              </a:rPr>
              <a:t>across 6 seasons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200">
                <a:solidFill>
                  <a:schemeClr val="dk1"/>
                </a:solidFill>
                <a:latin typeface="Times New Roman"/>
                <a:ea typeface="Times New Roman"/>
                <a:cs typeface="Times New Roman"/>
                <a:sym typeface="Times New Roman"/>
              </a:rPr>
              <a:t>Drivers</a:t>
            </a:r>
            <a:r>
              <a:rPr lang="en-US" sz="1200">
                <a:solidFill>
                  <a:schemeClr val="dk1"/>
                </a:solidFill>
                <a:latin typeface="Times New Roman"/>
                <a:ea typeface="Times New Roman"/>
                <a:cs typeface="Times New Roman"/>
                <a:sym typeface="Times New Roman"/>
              </a:rPr>
              <a:t>: There are 20 Formula 1 drivers per race, 2 per team. There are a total of 25 drivers in our dataset.</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200">
                <a:solidFill>
                  <a:schemeClr val="dk1"/>
                </a:solidFill>
                <a:latin typeface="Times New Roman"/>
                <a:ea typeface="Times New Roman"/>
                <a:cs typeface="Times New Roman"/>
                <a:sym typeface="Times New Roman"/>
              </a:rPr>
              <a:t>Race: </a:t>
            </a:r>
            <a:r>
              <a:rPr lang="en-US" sz="1200">
                <a:solidFill>
                  <a:schemeClr val="dk1"/>
                </a:solidFill>
                <a:latin typeface="Times New Roman"/>
                <a:ea typeface="Times New Roman"/>
                <a:cs typeface="Times New Roman"/>
                <a:sym typeface="Times New Roman"/>
              </a:rPr>
              <a:t> In our dataset we included both in season races and sprint races, for a total of 125 races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Abnormal weather conditions: </a:t>
            </a:r>
            <a:r>
              <a:rPr lang="en-US" sz="1200">
                <a:solidFill>
                  <a:schemeClr val="dk1"/>
                </a:solidFill>
                <a:latin typeface="Times New Roman"/>
                <a:ea typeface="Times New Roman"/>
                <a:cs typeface="Times New Roman"/>
                <a:sym typeface="Times New Roman"/>
              </a:rPr>
              <a:t>For our analysis, we defined abnormal weather conditions categorically as hot, cold, windy, and wet.</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t>For our analysis, we made the following assumptions:</a:t>
            </a:r>
            <a:endParaRPr/>
          </a:p>
          <a:p>
            <a:pPr indent="-298450" lvl="0" marL="457200" rtl="0" algn="l">
              <a:spcBef>
                <a:spcPts val="0"/>
              </a:spcBef>
              <a:spcAft>
                <a:spcPts val="0"/>
              </a:spcAft>
              <a:buSzPts val="1100"/>
              <a:buAutoNum type="arabicPeriod"/>
            </a:pPr>
            <a:r>
              <a:rPr lang="en-US"/>
              <a:t>Machinery, meaning cars and their mechanical components are not equal </a:t>
            </a:r>
            <a:r>
              <a:rPr lang="en-US"/>
              <a:t>between</a:t>
            </a:r>
            <a:r>
              <a:rPr lang="en-US"/>
              <a:t> teams</a:t>
            </a:r>
            <a:endParaRPr/>
          </a:p>
          <a:p>
            <a:pPr indent="-298450" lvl="0" marL="457200" rtl="0" algn="l">
              <a:spcBef>
                <a:spcPts val="0"/>
              </a:spcBef>
              <a:spcAft>
                <a:spcPts val="0"/>
              </a:spcAft>
              <a:buSzPts val="1100"/>
              <a:buAutoNum type="arabicPeriod"/>
            </a:pPr>
            <a:r>
              <a:rPr lang="en-US"/>
              <a:t>We excluded reserve drivers and only kept drivers and teams that drove 38 races or more across 2018-2023. This is so we could reliably see patterns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a55fed9120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a55fed912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Gia</a:t>
            </a:r>
            <a:endParaRPr/>
          </a:p>
          <a:p>
            <a:pPr indent="0" lvl="0" marL="0" rtl="0" algn="l">
              <a:spcBef>
                <a:spcPts val="0"/>
              </a:spcBef>
              <a:spcAft>
                <a:spcPts val="0"/>
              </a:spcAft>
              <a:buNone/>
            </a:pPr>
            <a:r>
              <a:rPr lang="en-US"/>
              <a:t>Race Dataset: merged 8 datasets from the Ergast API together, preprocessed the data in the format that we want and generated a new column called “F/DNF” which is a binary column where 0 means that the driver finished the race and 1 means that the driver Did Not Finish. We do not distinguish between reasons why a driver DNF.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Weather Dataset: Scrape from Open-Meteo API using the race ID, lat, long of the race location and start time in UTC. Retrieve the hourly weather variables for the date and location of each race and kept 4 hours of data per race.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Lastly, we merged them on race ID to create our master dataset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a55fed9120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a55fed912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first question we explored in our EDA is:</a:t>
            </a:r>
            <a:endParaRPr/>
          </a:p>
          <a:p>
            <a:pPr indent="0" lvl="0" marL="0" rtl="0" algn="l">
              <a:spcBef>
                <a:spcPts val="0"/>
              </a:spcBef>
              <a:spcAft>
                <a:spcPts val="0"/>
              </a:spcAft>
              <a:buNone/>
            </a:pPr>
            <a:r>
              <a:rPr lang="en-US"/>
              <a:t>How have abnormal weather </a:t>
            </a:r>
            <a:r>
              <a:rPr lang="en-US"/>
              <a:t>conditions</a:t>
            </a:r>
            <a:r>
              <a:rPr lang="en-US"/>
              <a:t> influenced driver standings at the end of each race from 2018-2023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a55fed9120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a55fed9120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 calculated the average difference between the starting position and ending position for each driver in normal and abnormal weather conditions. Here you can see a bar chart that shows each driver’s position delta in each condition.</a:t>
            </a:r>
            <a:endParaRPr/>
          </a:p>
          <a:p>
            <a:pPr indent="0" lvl="0" marL="0" rtl="0" algn="l">
              <a:spcBef>
                <a:spcPts val="0"/>
              </a:spcBef>
              <a:spcAft>
                <a:spcPts val="0"/>
              </a:spcAft>
              <a:buNone/>
            </a:pPr>
            <a:r>
              <a:rPr lang="en-US"/>
              <a:t>Some notable findings from this chart include:</a:t>
            </a:r>
            <a:endParaRPr/>
          </a:p>
          <a:p>
            <a:pPr indent="-298450" lvl="0" marL="457200" rtl="0" algn="l">
              <a:spcBef>
                <a:spcPts val="0"/>
              </a:spcBef>
              <a:spcAft>
                <a:spcPts val="0"/>
              </a:spcAft>
              <a:buSzPts val="1100"/>
              <a:buChar char="●"/>
            </a:pPr>
            <a:r>
              <a:rPr lang="en-US"/>
              <a:t>18, or 72% of drivers had a net loss in abnormal weather conditions, compared with 13, or 52% of drivers having a net loss in normal weather conditions</a:t>
            </a:r>
            <a:endParaRPr/>
          </a:p>
          <a:p>
            <a:pPr indent="-298450" lvl="0" marL="457200" rtl="0" algn="l">
              <a:spcBef>
                <a:spcPts val="0"/>
              </a:spcBef>
              <a:spcAft>
                <a:spcPts val="0"/>
              </a:spcAft>
              <a:buSzPts val="1100"/>
              <a:buChar char="●"/>
            </a:pPr>
            <a:r>
              <a:rPr lang="en-US"/>
              <a:t>7 or 28% of drivers had a positive delta in abnormal weather conditions, 10 or 40% drivers had a positive delta in normal weather conditions</a:t>
            </a:r>
            <a:endParaRPr/>
          </a:p>
          <a:p>
            <a:pPr indent="0" lvl="0" marL="0" rtl="0" algn="l">
              <a:spcBef>
                <a:spcPts val="0"/>
              </a:spcBef>
              <a:spcAft>
                <a:spcPts val="0"/>
              </a:spcAft>
              <a:buNone/>
            </a:pPr>
            <a:r>
              <a:rPr lang="en-US"/>
              <a:t>With this data, we can see that generally drivers perform better in normal weather conditions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38594a38a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638594a38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Here is the same data in table form showing each driver and their position delta in normal and abnormal weather conditions sorted by the abnormal variable. With this table, we can see some more specifics for each driver</a:t>
            </a:r>
            <a:endParaRPr>
              <a:solidFill>
                <a:schemeClr val="dk1"/>
              </a:solidFill>
            </a:endParaRPr>
          </a:p>
          <a:p>
            <a:pPr indent="0" lvl="0" marL="45720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US">
                <a:solidFill>
                  <a:schemeClr val="dk1"/>
                </a:solidFill>
              </a:rPr>
              <a:t>Lance Stroll and Daniel Kyvat are the only two drivers that gained over a position on average in abnormal weather conditions</a:t>
            </a:r>
            <a:endParaRPr>
              <a:solidFill>
                <a:schemeClr val="dk1"/>
              </a:solidFill>
            </a:endParaRPr>
          </a:p>
          <a:p>
            <a:pPr indent="-298450" lvl="0" marL="457200" rtl="0" algn="l">
              <a:spcBef>
                <a:spcPts val="0"/>
              </a:spcBef>
              <a:spcAft>
                <a:spcPts val="0"/>
              </a:spcAft>
              <a:buClr>
                <a:schemeClr val="dk1"/>
              </a:buClr>
              <a:buSzPts val="1100"/>
              <a:buChar char="●"/>
            </a:pPr>
            <a:r>
              <a:rPr lang="en-US">
                <a:solidFill>
                  <a:schemeClr val="dk1"/>
                </a:solidFill>
              </a:rPr>
              <a:t>Kyvat kept it up with an average position change over 1 in normal conditions as well, showing versatility</a:t>
            </a:r>
            <a:endParaRPr>
              <a:solidFill>
                <a:schemeClr val="dk1"/>
              </a:solidFill>
            </a:endParaRPr>
          </a:p>
          <a:p>
            <a:pPr indent="0" lvl="0" marL="0" rtl="0" algn="l">
              <a:spcBef>
                <a:spcPts val="0"/>
              </a:spcBef>
              <a:spcAft>
                <a:spcPts val="0"/>
              </a:spcAft>
              <a:buNone/>
            </a:pPr>
            <a:r>
              <a:rPr lang="en-US">
                <a:solidFill>
                  <a:schemeClr val="dk1"/>
                </a:solidFill>
              </a:rPr>
              <a:t>In F1, the position you start is determined by the qualifying races just before the real race, this means the best drivers tend to start in the first positions, and have smaller deltas</a:t>
            </a:r>
            <a:endParaRPr>
              <a:solidFill>
                <a:schemeClr val="dk1"/>
              </a:solidFill>
            </a:endParaRPr>
          </a:p>
          <a:p>
            <a:pPr indent="-298450" lvl="0" marL="457200" rtl="0" algn="l">
              <a:spcBef>
                <a:spcPts val="0"/>
              </a:spcBef>
              <a:spcAft>
                <a:spcPts val="0"/>
              </a:spcAft>
              <a:buClr>
                <a:schemeClr val="dk1"/>
              </a:buClr>
              <a:buSzPts val="1100"/>
              <a:buChar char="●"/>
            </a:pPr>
            <a:r>
              <a:rPr lang="en-US">
                <a:solidFill>
                  <a:schemeClr val="dk1"/>
                </a:solidFill>
              </a:rPr>
              <a:t>consistent drivers like lewis hamilton and alex albon, for example, have very small deltas</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a55fed9120_1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a55fed9120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Akin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DNF – Define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a55fed9120_1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a55fed9120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638594a38a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638594a38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a55fed9120_1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a55fed9120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Gia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Driver’s Performance – driver’s ending position for each race</a:t>
            </a:r>
            <a:endParaRPr/>
          </a:p>
          <a:p>
            <a:pPr indent="0" lvl="0" marL="0" rtl="0" algn="l">
              <a:spcBef>
                <a:spcPts val="0"/>
              </a:spcBef>
              <a:spcAft>
                <a:spcPts val="0"/>
              </a:spcAft>
              <a:buNone/>
            </a:pPr>
            <a:r>
              <a:rPr lang="en-US"/>
              <a:t>Weather conditions – hot, wet, normal (for more, see appendix)</a:t>
            </a:r>
            <a:endParaRPr/>
          </a:p>
          <a:p>
            <a:pPr indent="0" lvl="0" marL="0" rtl="0" algn="l">
              <a:spcBef>
                <a:spcPts val="0"/>
              </a:spcBef>
              <a:spcAft>
                <a:spcPts val="0"/>
              </a:spcAft>
              <a:buNone/>
            </a:pPr>
            <a:r>
              <a:rPr lang="en-US"/>
              <a:t>Again, only comparing drivers from the same team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a55fed9120_1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a55fed9120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75% of Leclerc’s finishes were in the 14th position or better – only 25% of the time that he finish worse than 15th position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a55fed9120_1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a55fed9120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a55fed9120_1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a55fed9120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dataframe for normal weather condition have more data points </a:t>
            </a:r>
            <a:r>
              <a:rPr lang="en-US"/>
              <a:t>compared to each individual abnormal weather conditions dataframe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would expect drivers to do better in a controlled environment but actually lots of them did better under a specific abnormal weather conditions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a55fed9120_1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a55fed9120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a55fed9120_1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a55fed9120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a55fed9120_1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a55fed9120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a5f8760eb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a5f8760eb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a55fed9120_1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a55fed9120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a55fed9120_1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a55fed9120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63941a61c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63941a61c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a55fed9120_1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a55fed9120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DD0305"/>
        </a:solidFill>
      </p:bgPr>
    </p:bg>
    <p:spTree>
      <p:nvGrpSpPr>
        <p:cNvPr id="13" name="Shape 13"/>
        <p:cNvGrpSpPr/>
        <p:nvPr/>
      </p:nvGrpSpPr>
      <p:grpSpPr>
        <a:xfrm>
          <a:off x="0" y="0"/>
          <a:ext cx="0" cy="0"/>
          <a:chOff x="0" y="0"/>
          <a:chExt cx="0" cy="0"/>
        </a:xfrm>
      </p:grpSpPr>
      <p:sp>
        <p:nvSpPr>
          <p:cNvPr id="14" name="Google Shape;14;p2"/>
          <p:cNvSpPr txBox="1"/>
          <p:nvPr>
            <p:ph type="ctrTitle"/>
          </p:nvPr>
        </p:nvSpPr>
        <p:spPr>
          <a:xfrm>
            <a:off x="2121877" y="2952749"/>
            <a:ext cx="7948246" cy="1655763"/>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5400"/>
              <a:buFont typeface="Play"/>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subTitle"/>
          </p:nvPr>
        </p:nvSpPr>
        <p:spPr>
          <a:xfrm>
            <a:off x="2121877" y="4700588"/>
            <a:ext cx="7948246"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000"/>
              <a:buNone/>
              <a:defRPr sz="20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9" name="Google Shape;19;p2"/>
          <p:cNvPicPr preferRelativeResize="0"/>
          <p:nvPr/>
        </p:nvPicPr>
        <p:blipFill rotWithShape="1">
          <a:blip r:embed="rId2">
            <a:alphaModFix/>
          </a:blip>
          <a:srcRect b="0" l="0" r="0" t="0"/>
          <a:stretch/>
        </p:blipFill>
        <p:spPr>
          <a:xfrm>
            <a:off x="3748505" y="1634039"/>
            <a:ext cx="4694989" cy="117374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DD030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789611"/>
            <a:ext cx="10515600" cy="438735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19146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19146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191460"/>
            <a:ext cx="11929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908498" y="6200202"/>
            <a:ext cx="1563973" cy="39099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pic>
        <p:nvPicPr>
          <p:cNvPr descr="F1 makes major changes to weekend schedule for 2022 | RacingNews365" id="28" name="Google Shape;28;p4"/>
          <p:cNvPicPr preferRelativeResize="0"/>
          <p:nvPr/>
        </p:nvPicPr>
        <p:blipFill rotWithShape="1">
          <a:blip r:embed="rId2">
            <a:alphaModFix/>
          </a:blip>
          <a:srcRect b="0" l="0" r="0" t="0"/>
          <a:stretch/>
        </p:blipFill>
        <p:spPr>
          <a:xfrm>
            <a:off x="3175" y="0"/>
            <a:ext cx="12188825" cy="6858000"/>
          </a:xfrm>
          <a:prstGeom prst="rect">
            <a:avLst/>
          </a:prstGeom>
          <a:noFill/>
          <a:ln>
            <a:noFill/>
          </a:ln>
        </p:spPr>
      </p:pic>
      <p:sp>
        <p:nvSpPr>
          <p:cNvPr id="29" name="Google Shape;29;p4"/>
          <p:cNvSpPr/>
          <p:nvPr/>
        </p:nvSpPr>
        <p:spPr>
          <a:xfrm>
            <a:off x="0" y="0"/>
            <a:ext cx="12192000" cy="6858000"/>
          </a:xfrm>
          <a:prstGeom prst="rect">
            <a:avLst/>
          </a:prstGeom>
          <a:gradFill>
            <a:gsLst>
              <a:gs pos="0">
                <a:srgbClr val="15141D"/>
              </a:gs>
              <a:gs pos="50000">
                <a:srgbClr val="15141D">
                  <a:alpha val="85882"/>
                </a:srgbClr>
              </a:gs>
              <a:gs pos="100000">
                <a:srgbClr val="15141D"/>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DD0305"/>
              </a:buClr>
              <a:buSzPts val="5400"/>
              <a:buFont typeface="Play"/>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23643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23643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236430"/>
            <a:ext cx="11330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Play"/>
                <a:ea typeface="Play"/>
                <a:cs typeface="Play"/>
                <a:sym typeface="Play"/>
              </a:defRPr>
            </a:lvl1pPr>
            <a:lvl2pPr indent="0" lvl="1" marL="0" algn="r">
              <a:spcBef>
                <a:spcPts val="0"/>
              </a:spcBef>
              <a:buNone/>
              <a:defRPr sz="1200">
                <a:solidFill>
                  <a:schemeClr val="lt1"/>
                </a:solidFill>
                <a:latin typeface="Play"/>
                <a:ea typeface="Play"/>
                <a:cs typeface="Play"/>
                <a:sym typeface="Play"/>
              </a:defRPr>
            </a:lvl2pPr>
            <a:lvl3pPr indent="0" lvl="2" marL="0" algn="r">
              <a:spcBef>
                <a:spcPts val="0"/>
              </a:spcBef>
              <a:buNone/>
              <a:defRPr sz="1200">
                <a:solidFill>
                  <a:schemeClr val="lt1"/>
                </a:solidFill>
                <a:latin typeface="Play"/>
                <a:ea typeface="Play"/>
                <a:cs typeface="Play"/>
                <a:sym typeface="Play"/>
              </a:defRPr>
            </a:lvl3pPr>
            <a:lvl4pPr indent="0" lvl="3" marL="0" algn="r">
              <a:spcBef>
                <a:spcPts val="0"/>
              </a:spcBef>
              <a:buNone/>
              <a:defRPr sz="1200">
                <a:solidFill>
                  <a:schemeClr val="lt1"/>
                </a:solidFill>
                <a:latin typeface="Play"/>
                <a:ea typeface="Play"/>
                <a:cs typeface="Play"/>
                <a:sym typeface="Play"/>
              </a:defRPr>
            </a:lvl4pPr>
            <a:lvl5pPr indent="0" lvl="4" marL="0" algn="r">
              <a:spcBef>
                <a:spcPts val="0"/>
              </a:spcBef>
              <a:buNone/>
              <a:defRPr sz="1200">
                <a:solidFill>
                  <a:schemeClr val="lt1"/>
                </a:solidFill>
                <a:latin typeface="Play"/>
                <a:ea typeface="Play"/>
                <a:cs typeface="Play"/>
                <a:sym typeface="Play"/>
              </a:defRPr>
            </a:lvl5pPr>
            <a:lvl6pPr indent="0" lvl="5" marL="0" algn="r">
              <a:spcBef>
                <a:spcPts val="0"/>
              </a:spcBef>
              <a:buNone/>
              <a:defRPr sz="1200">
                <a:solidFill>
                  <a:schemeClr val="lt1"/>
                </a:solidFill>
                <a:latin typeface="Play"/>
                <a:ea typeface="Play"/>
                <a:cs typeface="Play"/>
                <a:sym typeface="Play"/>
              </a:defRPr>
            </a:lvl6pPr>
            <a:lvl7pPr indent="0" lvl="6" marL="0" algn="r">
              <a:spcBef>
                <a:spcPts val="0"/>
              </a:spcBef>
              <a:buNone/>
              <a:defRPr sz="1200">
                <a:solidFill>
                  <a:schemeClr val="lt1"/>
                </a:solidFill>
                <a:latin typeface="Play"/>
                <a:ea typeface="Play"/>
                <a:cs typeface="Play"/>
                <a:sym typeface="Play"/>
              </a:defRPr>
            </a:lvl7pPr>
            <a:lvl8pPr indent="0" lvl="7" marL="0" algn="r">
              <a:spcBef>
                <a:spcPts val="0"/>
              </a:spcBef>
              <a:buNone/>
              <a:defRPr sz="1200">
                <a:solidFill>
                  <a:schemeClr val="lt1"/>
                </a:solidFill>
                <a:latin typeface="Play"/>
                <a:ea typeface="Play"/>
                <a:cs typeface="Play"/>
                <a:sym typeface="Play"/>
              </a:defRPr>
            </a:lvl8pPr>
            <a:lvl9pPr indent="0" lvl="8" marL="0" algn="r">
              <a:spcBef>
                <a:spcPts val="0"/>
              </a:spcBef>
              <a:buNone/>
              <a:defRPr sz="12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3">
            <a:alphaModFix/>
          </a:blip>
          <a:srcRect b="0" l="0" r="0" t="0"/>
          <a:stretch/>
        </p:blipFill>
        <p:spPr>
          <a:xfrm>
            <a:off x="9905431" y="6200201"/>
            <a:ext cx="1563973" cy="39099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pic>
        <p:nvPicPr>
          <p:cNvPr descr="F1 makes major changes to weekend schedule for 2022 | RacingNews365" id="37" name="Google Shape;37;p5"/>
          <p:cNvPicPr preferRelativeResize="0"/>
          <p:nvPr/>
        </p:nvPicPr>
        <p:blipFill rotWithShape="1">
          <a:blip r:embed="rId2">
            <a:alphaModFix/>
          </a:blip>
          <a:srcRect b="0" l="0" r="0" t="0"/>
          <a:stretch/>
        </p:blipFill>
        <p:spPr>
          <a:xfrm>
            <a:off x="3175" y="0"/>
            <a:ext cx="12188825" cy="6858000"/>
          </a:xfrm>
          <a:prstGeom prst="rect">
            <a:avLst/>
          </a:prstGeom>
          <a:noFill/>
          <a:ln>
            <a:noFill/>
          </a:ln>
        </p:spPr>
      </p:pic>
      <p:sp>
        <p:nvSpPr>
          <p:cNvPr id="38" name="Google Shape;38;p5"/>
          <p:cNvSpPr/>
          <p:nvPr/>
        </p:nvSpPr>
        <p:spPr>
          <a:xfrm>
            <a:off x="0" y="0"/>
            <a:ext cx="12192000" cy="6858000"/>
          </a:xfrm>
          <a:prstGeom prst="rect">
            <a:avLst/>
          </a:prstGeom>
          <a:gradFill>
            <a:gsLst>
              <a:gs pos="0">
                <a:srgbClr val="15141D"/>
              </a:gs>
              <a:gs pos="50000">
                <a:srgbClr val="15141D">
                  <a:alpha val="85882"/>
                </a:srgbClr>
              </a:gs>
              <a:gs pos="100000">
                <a:srgbClr val="15141D"/>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9" name="Google Shape;3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Play"/>
                <a:ea typeface="Play"/>
                <a:cs typeface="Play"/>
                <a:sym typeface="Play"/>
              </a:defRPr>
            </a:lvl1pPr>
            <a:lvl2pPr indent="0" lvl="1" marL="0" algn="r">
              <a:spcBef>
                <a:spcPts val="0"/>
              </a:spcBef>
              <a:buNone/>
              <a:defRPr sz="1200">
                <a:solidFill>
                  <a:schemeClr val="lt1"/>
                </a:solidFill>
                <a:latin typeface="Play"/>
                <a:ea typeface="Play"/>
                <a:cs typeface="Play"/>
                <a:sym typeface="Play"/>
              </a:defRPr>
            </a:lvl2pPr>
            <a:lvl3pPr indent="0" lvl="2" marL="0" algn="r">
              <a:spcBef>
                <a:spcPts val="0"/>
              </a:spcBef>
              <a:buNone/>
              <a:defRPr sz="1200">
                <a:solidFill>
                  <a:schemeClr val="lt1"/>
                </a:solidFill>
                <a:latin typeface="Play"/>
                <a:ea typeface="Play"/>
                <a:cs typeface="Play"/>
                <a:sym typeface="Play"/>
              </a:defRPr>
            </a:lvl3pPr>
            <a:lvl4pPr indent="0" lvl="3" marL="0" algn="r">
              <a:spcBef>
                <a:spcPts val="0"/>
              </a:spcBef>
              <a:buNone/>
              <a:defRPr sz="1200">
                <a:solidFill>
                  <a:schemeClr val="lt1"/>
                </a:solidFill>
                <a:latin typeface="Play"/>
                <a:ea typeface="Play"/>
                <a:cs typeface="Play"/>
                <a:sym typeface="Play"/>
              </a:defRPr>
            </a:lvl4pPr>
            <a:lvl5pPr indent="0" lvl="4" marL="0" algn="r">
              <a:spcBef>
                <a:spcPts val="0"/>
              </a:spcBef>
              <a:buNone/>
              <a:defRPr sz="1200">
                <a:solidFill>
                  <a:schemeClr val="lt1"/>
                </a:solidFill>
                <a:latin typeface="Play"/>
                <a:ea typeface="Play"/>
                <a:cs typeface="Play"/>
                <a:sym typeface="Play"/>
              </a:defRPr>
            </a:lvl5pPr>
            <a:lvl6pPr indent="0" lvl="5" marL="0" algn="r">
              <a:spcBef>
                <a:spcPts val="0"/>
              </a:spcBef>
              <a:buNone/>
              <a:defRPr sz="1200">
                <a:solidFill>
                  <a:schemeClr val="lt1"/>
                </a:solidFill>
                <a:latin typeface="Play"/>
                <a:ea typeface="Play"/>
                <a:cs typeface="Play"/>
                <a:sym typeface="Play"/>
              </a:defRPr>
            </a:lvl6pPr>
            <a:lvl7pPr indent="0" lvl="6" marL="0" algn="r">
              <a:spcBef>
                <a:spcPts val="0"/>
              </a:spcBef>
              <a:buNone/>
              <a:defRPr sz="1200">
                <a:solidFill>
                  <a:schemeClr val="lt1"/>
                </a:solidFill>
                <a:latin typeface="Play"/>
                <a:ea typeface="Play"/>
                <a:cs typeface="Play"/>
                <a:sym typeface="Play"/>
              </a:defRPr>
            </a:lvl7pPr>
            <a:lvl8pPr indent="0" lvl="7" marL="0" algn="r">
              <a:spcBef>
                <a:spcPts val="0"/>
              </a:spcBef>
              <a:buNone/>
              <a:defRPr sz="1200">
                <a:solidFill>
                  <a:schemeClr val="lt1"/>
                </a:solidFill>
                <a:latin typeface="Play"/>
                <a:ea typeface="Play"/>
                <a:cs typeface="Play"/>
                <a:sym typeface="Play"/>
              </a:defRPr>
            </a:lvl8pPr>
            <a:lvl9pPr indent="0" lvl="8" marL="0" algn="r">
              <a:spcBef>
                <a:spcPts val="0"/>
              </a:spcBef>
              <a:buNone/>
              <a:defRPr sz="12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DD030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DD030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pic>
        <p:nvPicPr>
          <p:cNvPr descr="F1 makes major changes to weekend schedule for 2022 | RacingNews365" id="59" name="Google Shape;59;p8"/>
          <p:cNvPicPr preferRelativeResize="0"/>
          <p:nvPr/>
        </p:nvPicPr>
        <p:blipFill rotWithShape="1">
          <a:blip r:embed="rId2">
            <a:alphaModFix/>
          </a:blip>
          <a:srcRect b="0" l="0" r="0" t="0"/>
          <a:stretch/>
        </p:blipFill>
        <p:spPr>
          <a:xfrm>
            <a:off x="3175" y="0"/>
            <a:ext cx="12188825" cy="6858000"/>
          </a:xfrm>
          <a:prstGeom prst="rect">
            <a:avLst/>
          </a:prstGeom>
          <a:noFill/>
          <a:ln>
            <a:noFill/>
          </a:ln>
        </p:spPr>
      </p:pic>
      <p:sp>
        <p:nvSpPr>
          <p:cNvPr id="60" name="Google Shape;60;p8"/>
          <p:cNvSpPr/>
          <p:nvPr/>
        </p:nvSpPr>
        <p:spPr>
          <a:xfrm>
            <a:off x="0" y="0"/>
            <a:ext cx="12192000" cy="6858000"/>
          </a:xfrm>
          <a:prstGeom prst="rect">
            <a:avLst/>
          </a:prstGeom>
          <a:gradFill>
            <a:gsLst>
              <a:gs pos="0">
                <a:srgbClr val="15141D"/>
              </a:gs>
              <a:gs pos="50000">
                <a:srgbClr val="15141D">
                  <a:alpha val="85882"/>
                </a:srgbClr>
              </a:gs>
              <a:gs pos="100000">
                <a:srgbClr val="15141D"/>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1" name="Google Shape;6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DD030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8"/>
          <p:cNvSpPr txBox="1"/>
          <p:nvPr>
            <p:ph idx="10" type="dt"/>
          </p:nvPr>
        </p:nvSpPr>
        <p:spPr>
          <a:xfrm>
            <a:off x="838200" y="625142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1" type="ftr"/>
          </p:nvPr>
        </p:nvSpPr>
        <p:spPr>
          <a:xfrm>
            <a:off x="4038600" y="625142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2" type="sldNum"/>
          </p:nvPr>
        </p:nvSpPr>
        <p:spPr>
          <a:xfrm>
            <a:off x="8610600" y="6251420"/>
            <a:ext cx="1058056"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Play"/>
                <a:ea typeface="Play"/>
                <a:cs typeface="Play"/>
                <a:sym typeface="Play"/>
              </a:defRPr>
            </a:lvl1pPr>
            <a:lvl2pPr indent="0" lvl="1" marL="0" algn="r">
              <a:spcBef>
                <a:spcPts val="0"/>
              </a:spcBef>
              <a:buNone/>
              <a:defRPr sz="1200">
                <a:solidFill>
                  <a:schemeClr val="lt1"/>
                </a:solidFill>
                <a:latin typeface="Play"/>
                <a:ea typeface="Play"/>
                <a:cs typeface="Play"/>
                <a:sym typeface="Play"/>
              </a:defRPr>
            </a:lvl2pPr>
            <a:lvl3pPr indent="0" lvl="2" marL="0" algn="r">
              <a:spcBef>
                <a:spcPts val="0"/>
              </a:spcBef>
              <a:buNone/>
              <a:defRPr sz="1200">
                <a:solidFill>
                  <a:schemeClr val="lt1"/>
                </a:solidFill>
                <a:latin typeface="Play"/>
                <a:ea typeface="Play"/>
                <a:cs typeface="Play"/>
                <a:sym typeface="Play"/>
              </a:defRPr>
            </a:lvl3pPr>
            <a:lvl4pPr indent="0" lvl="3" marL="0" algn="r">
              <a:spcBef>
                <a:spcPts val="0"/>
              </a:spcBef>
              <a:buNone/>
              <a:defRPr sz="1200">
                <a:solidFill>
                  <a:schemeClr val="lt1"/>
                </a:solidFill>
                <a:latin typeface="Play"/>
                <a:ea typeface="Play"/>
                <a:cs typeface="Play"/>
                <a:sym typeface="Play"/>
              </a:defRPr>
            </a:lvl4pPr>
            <a:lvl5pPr indent="0" lvl="4" marL="0" algn="r">
              <a:spcBef>
                <a:spcPts val="0"/>
              </a:spcBef>
              <a:buNone/>
              <a:defRPr sz="1200">
                <a:solidFill>
                  <a:schemeClr val="lt1"/>
                </a:solidFill>
                <a:latin typeface="Play"/>
                <a:ea typeface="Play"/>
                <a:cs typeface="Play"/>
                <a:sym typeface="Play"/>
              </a:defRPr>
            </a:lvl5pPr>
            <a:lvl6pPr indent="0" lvl="5" marL="0" algn="r">
              <a:spcBef>
                <a:spcPts val="0"/>
              </a:spcBef>
              <a:buNone/>
              <a:defRPr sz="1200">
                <a:solidFill>
                  <a:schemeClr val="lt1"/>
                </a:solidFill>
                <a:latin typeface="Play"/>
                <a:ea typeface="Play"/>
                <a:cs typeface="Play"/>
                <a:sym typeface="Play"/>
              </a:defRPr>
            </a:lvl6pPr>
            <a:lvl7pPr indent="0" lvl="6" marL="0" algn="r">
              <a:spcBef>
                <a:spcPts val="0"/>
              </a:spcBef>
              <a:buNone/>
              <a:defRPr sz="1200">
                <a:solidFill>
                  <a:schemeClr val="lt1"/>
                </a:solidFill>
                <a:latin typeface="Play"/>
                <a:ea typeface="Play"/>
                <a:cs typeface="Play"/>
                <a:sym typeface="Play"/>
              </a:defRPr>
            </a:lvl7pPr>
            <a:lvl8pPr indent="0" lvl="7" marL="0" algn="r">
              <a:spcBef>
                <a:spcPts val="0"/>
              </a:spcBef>
              <a:buNone/>
              <a:defRPr sz="1200">
                <a:solidFill>
                  <a:schemeClr val="lt1"/>
                </a:solidFill>
                <a:latin typeface="Play"/>
                <a:ea typeface="Play"/>
                <a:cs typeface="Play"/>
                <a:sym typeface="Play"/>
              </a:defRPr>
            </a:lvl8pPr>
            <a:lvl9pPr indent="0" lvl="8" marL="0" algn="r">
              <a:spcBef>
                <a:spcPts val="0"/>
              </a:spcBef>
              <a:buNone/>
              <a:defRPr sz="12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8"/>
          <p:cNvPicPr preferRelativeResize="0"/>
          <p:nvPr/>
        </p:nvPicPr>
        <p:blipFill rotWithShape="1">
          <a:blip r:embed="rId3">
            <a:alphaModFix/>
          </a:blip>
          <a:srcRect b="0" l="0" r="0" t="0"/>
          <a:stretch/>
        </p:blipFill>
        <p:spPr>
          <a:xfrm>
            <a:off x="9905431" y="6200201"/>
            <a:ext cx="1563973" cy="39099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9"/>
          <p:cNvSpPr txBox="1"/>
          <p:nvPr>
            <p:ph type="title"/>
          </p:nvPr>
        </p:nvSpPr>
        <p:spPr>
          <a:xfrm>
            <a:off x="839788" y="457200"/>
            <a:ext cx="3932237" cy="1600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DD0305"/>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9"/>
          <p:cNvSpPr txBox="1"/>
          <p:nvPr>
            <p:ph idx="1" type="body"/>
          </p:nvPr>
        </p:nvSpPr>
        <p:spPr>
          <a:xfrm>
            <a:off x="5183188" y="457201"/>
            <a:ext cx="6172200"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0"/>
          <p:cNvSpPr txBox="1"/>
          <p:nvPr>
            <p:ph type="title"/>
          </p:nvPr>
        </p:nvSpPr>
        <p:spPr>
          <a:xfrm>
            <a:off x="839788" y="457200"/>
            <a:ext cx="3932237" cy="1600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DD0305"/>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0"/>
          <p:cNvSpPr/>
          <p:nvPr>
            <p:ph idx="2" type="pic"/>
          </p:nvPr>
        </p:nvSpPr>
        <p:spPr>
          <a:xfrm>
            <a:off x="5183188" y="457201"/>
            <a:ext cx="6172200" cy="5403850"/>
          </a:xfrm>
          <a:prstGeom prst="rect">
            <a:avLst/>
          </a:prstGeom>
          <a:noFill/>
          <a:ln>
            <a:noFill/>
          </a:ln>
        </p:spPr>
      </p:sp>
      <p:sp>
        <p:nvSpPr>
          <p:cNvPr id="76" name="Google Shape;76;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rgbClr val="DD0305"/>
              </a:buClr>
              <a:buSzPts val="4400"/>
              <a:buFont typeface="Play"/>
              <a:buNone/>
              <a:defRPr b="1" i="0" sz="4400" u="none" cap="none" strike="noStrike">
                <a:solidFill>
                  <a:srgbClr val="DD0305"/>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789611"/>
            <a:ext cx="10515600" cy="4387352"/>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dk1"/>
              </a:buClr>
              <a:buSzPts val="2400"/>
              <a:buFont typeface="Arial"/>
              <a:buChar char="•"/>
              <a:defRPr b="0" i="0" sz="2400" u="none" cap="none" strike="noStrike">
                <a:solidFill>
                  <a:schemeClr val="dk1"/>
                </a:solidFill>
                <a:latin typeface="Play"/>
                <a:ea typeface="Play"/>
                <a:cs typeface="Play"/>
                <a:sym typeface="Play"/>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lay"/>
                <a:ea typeface="Play"/>
                <a:cs typeface="Play"/>
                <a:sym typeface="Play"/>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lay"/>
                <a:ea typeface="Play"/>
                <a:cs typeface="Play"/>
                <a:sym typeface="Play"/>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Play"/>
                <a:ea typeface="Play"/>
                <a:cs typeface="Play"/>
                <a:sym typeface="Play"/>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Play"/>
                <a:ea typeface="Play"/>
                <a:cs typeface="Play"/>
                <a:sym typeface="Play"/>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Play"/>
                <a:ea typeface="Play"/>
                <a:cs typeface="Play"/>
                <a:sym typeface="Play"/>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Play"/>
                <a:ea typeface="Play"/>
                <a:cs typeface="Play"/>
                <a:sym typeface="Play"/>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1"/>
                </a:solidFill>
                <a:latin typeface="Play"/>
                <a:ea typeface="Play"/>
                <a:cs typeface="Play"/>
                <a:sym typeface="Play"/>
              </a:defRPr>
            </a:lvl1pPr>
            <a:lvl2pPr indent="0" lvl="1" marL="0" marR="0" rtl="0" algn="r">
              <a:spcBef>
                <a:spcPts val="0"/>
              </a:spcBef>
              <a:buNone/>
              <a:defRPr b="0" i="0" sz="1200" u="none" cap="none" strike="noStrike">
                <a:solidFill>
                  <a:schemeClr val="dk1"/>
                </a:solidFill>
                <a:latin typeface="Play"/>
                <a:ea typeface="Play"/>
                <a:cs typeface="Play"/>
                <a:sym typeface="Play"/>
              </a:defRPr>
            </a:lvl2pPr>
            <a:lvl3pPr indent="0" lvl="2" marL="0" marR="0" rtl="0" algn="r">
              <a:spcBef>
                <a:spcPts val="0"/>
              </a:spcBef>
              <a:buNone/>
              <a:defRPr b="0" i="0" sz="1200" u="none" cap="none" strike="noStrike">
                <a:solidFill>
                  <a:schemeClr val="dk1"/>
                </a:solidFill>
                <a:latin typeface="Play"/>
                <a:ea typeface="Play"/>
                <a:cs typeface="Play"/>
                <a:sym typeface="Play"/>
              </a:defRPr>
            </a:lvl3pPr>
            <a:lvl4pPr indent="0" lvl="3" marL="0" marR="0" rtl="0" algn="r">
              <a:spcBef>
                <a:spcPts val="0"/>
              </a:spcBef>
              <a:buNone/>
              <a:defRPr b="0" i="0" sz="1200" u="none" cap="none" strike="noStrike">
                <a:solidFill>
                  <a:schemeClr val="dk1"/>
                </a:solidFill>
                <a:latin typeface="Play"/>
                <a:ea typeface="Play"/>
                <a:cs typeface="Play"/>
                <a:sym typeface="Play"/>
              </a:defRPr>
            </a:lvl4pPr>
            <a:lvl5pPr indent="0" lvl="4" marL="0" marR="0" rtl="0" algn="r">
              <a:spcBef>
                <a:spcPts val="0"/>
              </a:spcBef>
              <a:buNone/>
              <a:defRPr b="0" i="0" sz="1200" u="none" cap="none" strike="noStrike">
                <a:solidFill>
                  <a:schemeClr val="dk1"/>
                </a:solidFill>
                <a:latin typeface="Play"/>
                <a:ea typeface="Play"/>
                <a:cs typeface="Play"/>
                <a:sym typeface="Play"/>
              </a:defRPr>
            </a:lvl5pPr>
            <a:lvl6pPr indent="0" lvl="5" marL="0" marR="0" rtl="0" algn="r">
              <a:spcBef>
                <a:spcPts val="0"/>
              </a:spcBef>
              <a:buNone/>
              <a:defRPr b="0" i="0" sz="1200" u="none" cap="none" strike="noStrike">
                <a:solidFill>
                  <a:schemeClr val="dk1"/>
                </a:solidFill>
                <a:latin typeface="Play"/>
                <a:ea typeface="Play"/>
                <a:cs typeface="Play"/>
                <a:sym typeface="Play"/>
              </a:defRPr>
            </a:lvl6pPr>
            <a:lvl7pPr indent="0" lvl="6" marL="0" marR="0" rtl="0" algn="r">
              <a:spcBef>
                <a:spcPts val="0"/>
              </a:spcBef>
              <a:buNone/>
              <a:defRPr b="0" i="0" sz="1200" u="none" cap="none" strike="noStrike">
                <a:solidFill>
                  <a:schemeClr val="dk1"/>
                </a:solidFill>
                <a:latin typeface="Play"/>
                <a:ea typeface="Play"/>
                <a:cs typeface="Play"/>
                <a:sym typeface="Play"/>
              </a:defRPr>
            </a:lvl7pPr>
            <a:lvl8pPr indent="0" lvl="7" marL="0" marR="0" rtl="0" algn="r">
              <a:spcBef>
                <a:spcPts val="0"/>
              </a:spcBef>
              <a:buNone/>
              <a:defRPr b="0" i="0" sz="1200" u="none" cap="none" strike="noStrike">
                <a:solidFill>
                  <a:schemeClr val="dk1"/>
                </a:solidFill>
                <a:latin typeface="Play"/>
                <a:ea typeface="Play"/>
                <a:cs typeface="Play"/>
                <a:sym typeface="Play"/>
              </a:defRPr>
            </a:lvl8pPr>
            <a:lvl9pPr indent="0" lvl="8" marL="0" marR="0" rtl="0" algn="r">
              <a:spcBef>
                <a:spcPts val="0"/>
              </a:spcBef>
              <a:buNone/>
              <a:defRPr b="0" i="0" sz="1200" u="none" cap="none" strike="noStrike">
                <a:solidFill>
                  <a:schemeClr val="dk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pic>
        <p:nvPicPr>
          <p:cNvPr id="11" name="Google Shape;11;p1"/>
          <p:cNvPicPr preferRelativeResize="0"/>
          <p:nvPr/>
        </p:nvPicPr>
        <p:blipFill rotWithShape="1">
          <a:blip r:embed="rId1">
            <a:alphaModFix/>
          </a:blip>
          <a:srcRect b="0" l="0" r="0" t="0"/>
          <a:stretch/>
        </p:blipFill>
        <p:spPr>
          <a:xfrm rot="-5400000">
            <a:off x="-610475" y="4914981"/>
            <a:ext cx="896556" cy="324395"/>
          </a:xfrm>
          <a:prstGeom prst="rect">
            <a:avLst/>
          </a:prstGeom>
          <a:noFill/>
          <a:ln>
            <a:noFill/>
          </a:ln>
        </p:spPr>
      </p:pic>
      <p:sp>
        <p:nvSpPr>
          <p:cNvPr id="12" name="Google Shape;12;p1"/>
          <p:cNvSpPr txBox="1"/>
          <p:nvPr/>
        </p:nvSpPr>
        <p:spPr>
          <a:xfrm rot="-5400000">
            <a:off x="-2113768" y="2546065"/>
            <a:ext cx="3888671"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A5A5A5"/>
                </a:solidFill>
                <a:latin typeface="Trebuchet MS"/>
                <a:ea typeface="Trebuchet MS"/>
                <a:cs typeface="Trebuchet MS"/>
                <a:sym typeface="Trebuchet MS"/>
              </a:rPr>
              <a:t>Find more PowerPoint templates on </a:t>
            </a:r>
            <a:r>
              <a:rPr b="1" i="0" lang="en-US" sz="1200" u="none" cap="none" strike="noStrike">
                <a:solidFill>
                  <a:srgbClr val="A5A5A5"/>
                </a:solidFill>
                <a:latin typeface="Trebuchet MS"/>
                <a:ea typeface="Trebuchet MS"/>
                <a:cs typeface="Trebuchet MS"/>
                <a:sym typeface="Trebuchet MS"/>
              </a:rPr>
              <a:t>prezentr.com</a:t>
            </a:r>
            <a:r>
              <a:rPr b="0" i="0" lang="en-US" sz="1200" u="none" cap="none" strike="noStrike">
                <a:solidFill>
                  <a:srgbClr val="A5A5A5"/>
                </a:solidFill>
                <a:latin typeface="Trebuchet MS"/>
                <a:ea typeface="Trebuchet MS"/>
                <a:cs typeface="Trebuchet MS"/>
                <a:sym typeface="Trebuchet MS"/>
              </a:rPr>
              <a:t>!</a:t>
            </a:r>
            <a:endParaRPr sz="1200">
              <a:solidFill>
                <a:srgbClr val="A5A5A5"/>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prezentr.com/?utm_source=templates&amp;utm_medium=presentation&amp;utm_campaign=free_downloads_202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rtrsports.com/en/blog/formula-1-in-the-us-whats-behind-its-rise-in-popularity/" TargetMode="External"/><Relationship Id="rId4" Type="http://schemas.openxmlformats.org/officeDocument/2006/relationships/hyperlink" Target="https://www.forbes.com/sites/maurybrown/2023/03/29/inside-the-numbers-that-show-formula-1s-popularity-and-financial-growth/?sh=1f1599114df6" TargetMode="External"/><Relationship Id="rId9" Type="http://schemas.openxmlformats.org/officeDocument/2006/relationships/hyperlink" Target="http://imdb.com/title/tt8289930/" TargetMode="External"/><Relationship Id="rId5" Type="http://schemas.openxmlformats.org/officeDocument/2006/relationships/hyperlink" Target="https://espnpressroom.com/us/press-releases/2023/03/formula-1-presents-unique-opportunities-for-disney-advertisers/" TargetMode="External"/><Relationship Id="rId6" Type="http://schemas.openxmlformats.org/officeDocument/2006/relationships/hyperlink" Target="https://news.williamhill.com/motor-racing/weather-effect-formula-one/#:~:text=Even%20small%20increases%20in%20temperature,the%20way%20a%20car%20performs" TargetMode="External"/><Relationship Id="rId7" Type="http://schemas.openxmlformats.org/officeDocument/2006/relationships/hyperlink" Target="https://ergast.com/mrd/" TargetMode="External"/><Relationship Id="rId8" Type="http://schemas.openxmlformats.org/officeDocument/2006/relationships/hyperlink" Target="https://open-meteo.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1">
            <a:hlinkClick r:id="rId3"/>
          </p:cNvPr>
          <p:cNvSpPr/>
          <p:nvPr/>
        </p:nvSpPr>
        <p:spPr>
          <a:xfrm>
            <a:off x="0" y="0"/>
            <a:ext cx="12192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85" name="Google Shape;85;p11"/>
          <p:cNvSpPr txBox="1"/>
          <p:nvPr>
            <p:ph type="ctrTitle"/>
          </p:nvPr>
        </p:nvSpPr>
        <p:spPr>
          <a:xfrm>
            <a:off x="2121877" y="2952749"/>
            <a:ext cx="7948246" cy="1655763"/>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5400"/>
              <a:buFont typeface="Play"/>
              <a:buNone/>
            </a:pPr>
            <a:r>
              <a:rPr lang="en-US" sz="4000"/>
              <a:t>Weather Impact Analysis on Formula 1 Driver Performance</a:t>
            </a:r>
            <a:endParaRPr sz="4000"/>
          </a:p>
        </p:txBody>
      </p:sp>
      <p:sp>
        <p:nvSpPr>
          <p:cNvPr id="86" name="Google Shape;86;p11"/>
          <p:cNvSpPr txBox="1"/>
          <p:nvPr>
            <p:ph idx="1" type="subTitle"/>
          </p:nvPr>
        </p:nvSpPr>
        <p:spPr>
          <a:xfrm>
            <a:off x="2121877" y="4700588"/>
            <a:ext cx="7948246" cy="1655762"/>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2000"/>
              <a:buNone/>
            </a:pPr>
            <a:r>
              <a:t/>
            </a:r>
            <a:endParaRPr b="1">
              <a:latin typeface="Play"/>
              <a:ea typeface="Play"/>
              <a:cs typeface="Play"/>
              <a:sym typeface="Play"/>
            </a:endParaRPr>
          </a:p>
          <a:p>
            <a:pPr indent="0" lvl="0" marL="0" rtl="0" algn="ctr">
              <a:lnSpc>
                <a:spcPct val="90000"/>
              </a:lnSpc>
              <a:spcBef>
                <a:spcPts val="0"/>
              </a:spcBef>
              <a:spcAft>
                <a:spcPts val="0"/>
              </a:spcAft>
              <a:buClr>
                <a:schemeClr val="dk1"/>
              </a:buClr>
              <a:buSzPts val="2000"/>
              <a:buNone/>
            </a:pPr>
            <a:r>
              <a:t/>
            </a:r>
            <a:endParaRPr b="1">
              <a:latin typeface="Play"/>
              <a:ea typeface="Play"/>
              <a:cs typeface="Play"/>
              <a:sym typeface="Play"/>
            </a:endParaRPr>
          </a:p>
          <a:p>
            <a:pPr indent="0" lvl="0" marL="0" rtl="0" algn="ctr">
              <a:lnSpc>
                <a:spcPct val="90000"/>
              </a:lnSpc>
              <a:spcBef>
                <a:spcPts val="0"/>
              </a:spcBef>
              <a:spcAft>
                <a:spcPts val="0"/>
              </a:spcAft>
              <a:buClr>
                <a:schemeClr val="dk1"/>
              </a:buClr>
              <a:buSzPts val="2000"/>
              <a:buNone/>
            </a:pPr>
            <a:r>
              <a:t/>
            </a:r>
            <a:endParaRPr b="1">
              <a:latin typeface="Play"/>
              <a:ea typeface="Play"/>
              <a:cs typeface="Play"/>
              <a:sym typeface="Play"/>
            </a:endParaRPr>
          </a:p>
          <a:p>
            <a:pPr indent="0" lvl="0" marL="0" rtl="0" algn="ctr">
              <a:lnSpc>
                <a:spcPct val="90000"/>
              </a:lnSpc>
              <a:spcBef>
                <a:spcPts val="0"/>
              </a:spcBef>
              <a:spcAft>
                <a:spcPts val="0"/>
              </a:spcAft>
              <a:buClr>
                <a:schemeClr val="dk1"/>
              </a:buClr>
              <a:buSzPts val="2000"/>
              <a:buNone/>
            </a:pPr>
            <a:r>
              <a:rPr b="1" lang="en-US">
                <a:solidFill>
                  <a:schemeClr val="lt1"/>
                </a:solidFill>
                <a:latin typeface="Play"/>
                <a:ea typeface="Play"/>
                <a:cs typeface="Play"/>
                <a:sym typeface="Play"/>
              </a:rPr>
              <a:t>Cat Weiss, Akin Akinlabi, Gia Nguyen</a:t>
            </a:r>
            <a:endParaRPr b="1">
              <a:solidFill>
                <a:schemeClr val="lt1"/>
              </a:solidFill>
              <a:latin typeface="Play"/>
              <a:ea typeface="Play"/>
              <a:cs typeface="Play"/>
              <a:sym typeface="Play"/>
            </a:endParaRPr>
          </a:p>
          <a:p>
            <a:pPr indent="0" lvl="0" marL="0" rtl="0" algn="ctr">
              <a:lnSpc>
                <a:spcPct val="90000"/>
              </a:lnSpc>
              <a:spcBef>
                <a:spcPts val="0"/>
              </a:spcBef>
              <a:spcAft>
                <a:spcPts val="0"/>
              </a:spcAft>
              <a:buClr>
                <a:schemeClr val="dk1"/>
              </a:buClr>
              <a:buSzPts val="2000"/>
              <a:buNone/>
            </a:pPr>
            <a:r>
              <a:rPr b="1" lang="en-US">
                <a:solidFill>
                  <a:schemeClr val="lt1"/>
                </a:solidFill>
                <a:latin typeface="Play"/>
                <a:ea typeface="Play"/>
                <a:cs typeface="Play"/>
                <a:sym typeface="Play"/>
              </a:rPr>
              <a:t>MIDS W200 Fall 2023</a:t>
            </a:r>
            <a:endParaRPr b="1">
              <a:solidFill>
                <a:schemeClr val="lt1"/>
              </a:solidFill>
              <a:latin typeface="Play"/>
              <a:ea typeface="Play"/>
              <a:cs typeface="Play"/>
              <a:sym typeface="Play"/>
            </a:endParaRPr>
          </a:p>
          <a:p>
            <a:pPr indent="0" lvl="0" marL="0" rtl="0" algn="ctr">
              <a:lnSpc>
                <a:spcPct val="90000"/>
              </a:lnSpc>
              <a:spcBef>
                <a:spcPts val="0"/>
              </a:spcBef>
              <a:spcAft>
                <a:spcPts val="0"/>
              </a:spcAft>
              <a:buClr>
                <a:schemeClr val="dk1"/>
              </a:buClr>
              <a:buSzPts val="2000"/>
              <a:buNone/>
            </a:pPr>
            <a:r>
              <a:rPr b="1" lang="en-US">
                <a:solidFill>
                  <a:schemeClr val="lt1"/>
                </a:solidFill>
                <a:latin typeface="Play"/>
                <a:ea typeface="Play"/>
                <a:cs typeface="Play"/>
                <a:sym typeface="Play"/>
              </a:rPr>
              <a:t>December 14, 2023</a:t>
            </a:r>
            <a:endParaRPr b="1">
              <a:solidFill>
                <a:schemeClr val="lt1"/>
              </a:solidFill>
              <a:latin typeface="Play"/>
              <a:ea typeface="Play"/>
              <a:cs typeface="Play"/>
              <a:sym typeface="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2"/>
          <p:cNvSpPr txBox="1"/>
          <p:nvPr>
            <p:ph type="title"/>
          </p:nvPr>
        </p:nvSpPr>
        <p:spPr>
          <a:xfrm>
            <a:off x="-3335650" y="0"/>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Introduction</a:t>
            </a:r>
            <a:endParaRPr/>
          </a:p>
        </p:txBody>
      </p:sp>
      <p:sp>
        <p:nvSpPr>
          <p:cNvPr id="92" name="Google Shape;92;p12"/>
          <p:cNvSpPr txBox="1"/>
          <p:nvPr>
            <p:ph idx="1" type="body"/>
          </p:nvPr>
        </p:nvSpPr>
        <p:spPr>
          <a:xfrm>
            <a:off x="771100" y="1132000"/>
            <a:ext cx="6804900" cy="46791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Increase in Formula 1 popularity</a:t>
            </a:r>
            <a:endParaRPr/>
          </a:p>
          <a:p>
            <a:pPr indent="-342900" lvl="0" marL="457200" rtl="0" algn="l">
              <a:spcBef>
                <a:spcPts val="0"/>
              </a:spcBef>
              <a:spcAft>
                <a:spcPts val="0"/>
              </a:spcAft>
              <a:buSzPts val="1800"/>
              <a:buChar char="-"/>
            </a:pPr>
            <a:r>
              <a:rPr lang="en-US"/>
              <a:t>New circuits</a:t>
            </a:r>
            <a:endParaRPr/>
          </a:p>
          <a:p>
            <a:pPr indent="-342900" lvl="0" marL="457200" rtl="0" algn="l">
              <a:spcBef>
                <a:spcPts val="0"/>
              </a:spcBef>
              <a:spcAft>
                <a:spcPts val="0"/>
              </a:spcAft>
              <a:buSzPts val="1800"/>
              <a:buChar char="-"/>
            </a:pPr>
            <a:r>
              <a:rPr lang="en-US"/>
              <a:t>Driver reputation in varying weather patterns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
        <p:nvSpPr>
          <p:cNvPr id="93" name="Google Shape;93;p12"/>
          <p:cNvSpPr txBox="1"/>
          <p:nvPr/>
        </p:nvSpPr>
        <p:spPr>
          <a:xfrm>
            <a:off x="7694263" y="302550"/>
            <a:ext cx="3905400" cy="35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Clr>
                <a:schemeClr val="dk1"/>
              </a:buClr>
              <a:buSzPts val="1100"/>
              <a:buFont typeface="Arial"/>
              <a:buNone/>
            </a:pPr>
            <a:r>
              <a:rPr lang="en-US" sz="1200">
                <a:solidFill>
                  <a:schemeClr val="dk1"/>
                </a:solidFill>
                <a:latin typeface="Play"/>
                <a:ea typeface="Play"/>
                <a:cs typeface="Play"/>
                <a:sym typeface="Play"/>
              </a:rPr>
              <a:t>[7]</a:t>
            </a:r>
            <a:endParaRPr sz="900">
              <a:solidFill>
                <a:schemeClr val="dk1"/>
              </a:solidFill>
              <a:latin typeface="Play"/>
              <a:ea typeface="Play"/>
              <a:cs typeface="Play"/>
              <a:sym typeface="Play"/>
            </a:endParaRPr>
          </a:p>
        </p:txBody>
      </p:sp>
      <p:pic>
        <p:nvPicPr>
          <p:cNvPr id="94" name="Google Shape;94;p12"/>
          <p:cNvPicPr preferRelativeResize="0"/>
          <p:nvPr/>
        </p:nvPicPr>
        <p:blipFill>
          <a:blip r:embed="rId3">
            <a:alphaModFix/>
          </a:blip>
          <a:stretch>
            <a:fillRect/>
          </a:stretch>
        </p:blipFill>
        <p:spPr>
          <a:xfrm>
            <a:off x="7947174" y="692450"/>
            <a:ext cx="3652501" cy="5118650"/>
          </a:xfrm>
          <a:prstGeom prst="rect">
            <a:avLst/>
          </a:prstGeom>
          <a:noFill/>
          <a:ln>
            <a:noFill/>
          </a:ln>
        </p:spPr>
      </p:pic>
      <p:pic>
        <p:nvPicPr>
          <p:cNvPr id="95" name="Google Shape;95;p12"/>
          <p:cNvPicPr preferRelativeResize="0"/>
          <p:nvPr/>
        </p:nvPicPr>
        <p:blipFill>
          <a:blip r:embed="rId4">
            <a:alphaModFix/>
          </a:blip>
          <a:stretch>
            <a:fillRect/>
          </a:stretch>
        </p:blipFill>
        <p:spPr>
          <a:xfrm>
            <a:off x="0" y="2283275"/>
            <a:ext cx="7715549" cy="4154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3"/>
          <p:cNvSpPr txBox="1"/>
          <p:nvPr>
            <p:ph type="title"/>
          </p:nvPr>
        </p:nvSpPr>
        <p:spPr>
          <a:xfrm>
            <a:off x="838200" y="365125"/>
            <a:ext cx="10515600" cy="24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What is the impact of weather on Formula 1 in the 2018-2023 seasons?</a:t>
            </a:r>
            <a:endParaRPr sz="2200"/>
          </a:p>
        </p:txBody>
      </p:sp>
      <p:sp>
        <p:nvSpPr>
          <p:cNvPr id="101" name="Google Shape;101;p13"/>
          <p:cNvSpPr txBox="1"/>
          <p:nvPr/>
        </p:nvSpPr>
        <p:spPr>
          <a:xfrm>
            <a:off x="3760225" y="3156050"/>
            <a:ext cx="4852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rgbClr val="DD0305"/>
                </a:solidFill>
                <a:latin typeface="Play"/>
                <a:ea typeface="Play"/>
                <a:cs typeface="Play"/>
                <a:sym typeface="Play"/>
              </a:rPr>
              <a:t>Key Terms:</a:t>
            </a:r>
            <a:endParaRPr sz="2400">
              <a:solidFill>
                <a:srgbClr val="DD0305"/>
              </a:solidFill>
              <a:latin typeface="Play"/>
              <a:ea typeface="Play"/>
              <a:cs typeface="Play"/>
              <a:sym typeface="Play"/>
            </a:endParaRPr>
          </a:p>
          <a:p>
            <a:pPr indent="-381000" lvl="0" marL="457200" rtl="0" algn="l">
              <a:spcBef>
                <a:spcPts val="0"/>
              </a:spcBef>
              <a:spcAft>
                <a:spcPts val="0"/>
              </a:spcAft>
              <a:buClr>
                <a:srgbClr val="DD0305"/>
              </a:buClr>
              <a:buSzPts val="2400"/>
              <a:buFont typeface="Play"/>
              <a:buChar char="-"/>
            </a:pPr>
            <a:r>
              <a:rPr lang="en-US" sz="2400">
                <a:solidFill>
                  <a:srgbClr val="DD0305"/>
                </a:solidFill>
                <a:latin typeface="Play"/>
                <a:ea typeface="Play"/>
                <a:cs typeface="Play"/>
                <a:sym typeface="Play"/>
              </a:rPr>
              <a:t>Formula 1</a:t>
            </a:r>
            <a:endParaRPr sz="2400">
              <a:solidFill>
                <a:srgbClr val="DD0305"/>
              </a:solidFill>
              <a:latin typeface="Play"/>
              <a:ea typeface="Play"/>
              <a:cs typeface="Play"/>
              <a:sym typeface="Play"/>
            </a:endParaRPr>
          </a:p>
          <a:p>
            <a:pPr indent="-381000" lvl="0" marL="457200" rtl="0" algn="l">
              <a:spcBef>
                <a:spcPts val="0"/>
              </a:spcBef>
              <a:spcAft>
                <a:spcPts val="0"/>
              </a:spcAft>
              <a:buClr>
                <a:srgbClr val="DD0305"/>
              </a:buClr>
              <a:buSzPts val="2400"/>
              <a:buFont typeface="Play"/>
              <a:buChar char="-"/>
            </a:pPr>
            <a:r>
              <a:rPr lang="en-US" sz="2400">
                <a:solidFill>
                  <a:srgbClr val="DD0305"/>
                </a:solidFill>
                <a:latin typeface="Play"/>
                <a:ea typeface="Play"/>
                <a:cs typeface="Play"/>
                <a:sym typeface="Play"/>
              </a:rPr>
              <a:t>Teams</a:t>
            </a:r>
            <a:endParaRPr sz="2400">
              <a:solidFill>
                <a:srgbClr val="DD0305"/>
              </a:solidFill>
              <a:latin typeface="Play"/>
              <a:ea typeface="Play"/>
              <a:cs typeface="Play"/>
              <a:sym typeface="Play"/>
            </a:endParaRPr>
          </a:p>
          <a:p>
            <a:pPr indent="-381000" lvl="0" marL="457200" rtl="0" algn="l">
              <a:spcBef>
                <a:spcPts val="0"/>
              </a:spcBef>
              <a:spcAft>
                <a:spcPts val="0"/>
              </a:spcAft>
              <a:buClr>
                <a:srgbClr val="DD0305"/>
              </a:buClr>
              <a:buSzPts val="2400"/>
              <a:buFont typeface="Play"/>
              <a:buChar char="-"/>
            </a:pPr>
            <a:r>
              <a:rPr lang="en-US" sz="2400">
                <a:solidFill>
                  <a:srgbClr val="DD0305"/>
                </a:solidFill>
                <a:latin typeface="Play"/>
                <a:ea typeface="Play"/>
                <a:cs typeface="Play"/>
                <a:sym typeface="Play"/>
              </a:rPr>
              <a:t>Drivers</a:t>
            </a:r>
            <a:endParaRPr sz="2400">
              <a:solidFill>
                <a:srgbClr val="DD0305"/>
              </a:solidFill>
              <a:latin typeface="Play"/>
              <a:ea typeface="Play"/>
              <a:cs typeface="Play"/>
              <a:sym typeface="Play"/>
            </a:endParaRPr>
          </a:p>
          <a:p>
            <a:pPr indent="-381000" lvl="0" marL="457200" rtl="0" algn="l">
              <a:spcBef>
                <a:spcPts val="0"/>
              </a:spcBef>
              <a:spcAft>
                <a:spcPts val="0"/>
              </a:spcAft>
              <a:buClr>
                <a:srgbClr val="DD0305"/>
              </a:buClr>
              <a:buSzPts val="2400"/>
              <a:buFont typeface="Play"/>
              <a:buChar char="-"/>
            </a:pPr>
            <a:r>
              <a:rPr lang="en-US" sz="2400">
                <a:solidFill>
                  <a:srgbClr val="DD0305"/>
                </a:solidFill>
                <a:latin typeface="Play"/>
                <a:ea typeface="Play"/>
                <a:cs typeface="Play"/>
                <a:sym typeface="Play"/>
              </a:rPr>
              <a:t>Race</a:t>
            </a:r>
            <a:endParaRPr sz="2400">
              <a:solidFill>
                <a:srgbClr val="DD0305"/>
              </a:solidFill>
              <a:latin typeface="Play"/>
              <a:ea typeface="Play"/>
              <a:cs typeface="Play"/>
              <a:sym typeface="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4"/>
          <p:cNvPicPr preferRelativeResize="0"/>
          <p:nvPr/>
        </p:nvPicPr>
        <p:blipFill>
          <a:blip r:embed="rId3">
            <a:alphaModFix/>
          </a:blip>
          <a:stretch>
            <a:fillRect/>
          </a:stretch>
        </p:blipFill>
        <p:spPr>
          <a:xfrm>
            <a:off x="2881150" y="2987272"/>
            <a:ext cx="888525" cy="888525"/>
          </a:xfrm>
          <a:prstGeom prst="rect">
            <a:avLst/>
          </a:prstGeom>
          <a:noFill/>
          <a:ln>
            <a:noFill/>
          </a:ln>
        </p:spPr>
      </p:pic>
      <p:pic>
        <p:nvPicPr>
          <p:cNvPr id="107" name="Google Shape;107;p14"/>
          <p:cNvPicPr preferRelativeResize="0"/>
          <p:nvPr/>
        </p:nvPicPr>
        <p:blipFill>
          <a:blip r:embed="rId3">
            <a:alphaModFix/>
          </a:blip>
          <a:stretch>
            <a:fillRect/>
          </a:stretch>
        </p:blipFill>
        <p:spPr>
          <a:xfrm>
            <a:off x="10284900" y="2987272"/>
            <a:ext cx="888525" cy="888525"/>
          </a:xfrm>
          <a:prstGeom prst="rect">
            <a:avLst/>
          </a:prstGeom>
          <a:noFill/>
          <a:ln>
            <a:noFill/>
          </a:ln>
        </p:spPr>
      </p:pic>
      <p:sp>
        <p:nvSpPr>
          <p:cNvPr id="108" name="Google Shape;108;p14"/>
          <p:cNvSpPr txBox="1"/>
          <p:nvPr>
            <p:ph type="title"/>
          </p:nvPr>
        </p:nvSpPr>
        <p:spPr>
          <a:xfrm>
            <a:off x="1015375" y="204850"/>
            <a:ext cx="10515600" cy="766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Datasets</a:t>
            </a:r>
            <a:endParaRPr/>
          </a:p>
        </p:txBody>
      </p:sp>
      <p:sp>
        <p:nvSpPr>
          <p:cNvPr id="109" name="Google Shape;109;p14"/>
          <p:cNvSpPr txBox="1"/>
          <p:nvPr>
            <p:ph idx="3" type="body"/>
          </p:nvPr>
        </p:nvSpPr>
        <p:spPr>
          <a:xfrm>
            <a:off x="7949000" y="1076600"/>
            <a:ext cx="3627600" cy="766500"/>
          </a:xfrm>
          <a:prstGeom prst="rect">
            <a:avLst/>
          </a:prstGeom>
        </p:spPr>
        <p:txBody>
          <a:bodyPr anchorCtr="0" anchor="b" bIns="45700" lIns="91425" spcFirstLastPara="1" rIns="91425" wrap="square" tIns="45700">
            <a:normAutofit lnSpcReduction="20000"/>
          </a:bodyPr>
          <a:lstStyle/>
          <a:p>
            <a:pPr indent="0" lvl="0" marL="0" rtl="0" algn="ctr">
              <a:spcBef>
                <a:spcPts val="1000"/>
              </a:spcBef>
              <a:spcAft>
                <a:spcPts val="0"/>
              </a:spcAft>
              <a:buNone/>
            </a:pPr>
            <a:r>
              <a:rPr lang="en-US"/>
              <a:t>Weather Dataset</a:t>
            </a:r>
            <a:endParaRPr/>
          </a:p>
          <a:p>
            <a:pPr indent="0" lvl="0" marL="0" rtl="0" algn="ctr">
              <a:spcBef>
                <a:spcPts val="1000"/>
              </a:spcBef>
              <a:spcAft>
                <a:spcPts val="0"/>
              </a:spcAft>
              <a:buNone/>
            </a:pPr>
            <a:r>
              <a:rPr b="0" lang="en-US"/>
              <a:t>Open-Meteo API</a:t>
            </a:r>
            <a:endParaRPr b="0"/>
          </a:p>
        </p:txBody>
      </p:sp>
      <p:pic>
        <p:nvPicPr>
          <p:cNvPr id="110" name="Google Shape;110;p14"/>
          <p:cNvPicPr preferRelativeResize="0"/>
          <p:nvPr/>
        </p:nvPicPr>
        <p:blipFill>
          <a:blip r:embed="rId4">
            <a:alphaModFix/>
          </a:blip>
          <a:stretch>
            <a:fillRect/>
          </a:stretch>
        </p:blipFill>
        <p:spPr>
          <a:xfrm>
            <a:off x="1489875" y="2047963"/>
            <a:ext cx="1878650" cy="1878650"/>
          </a:xfrm>
          <a:prstGeom prst="rect">
            <a:avLst/>
          </a:prstGeom>
          <a:noFill/>
          <a:ln>
            <a:noFill/>
          </a:ln>
        </p:spPr>
      </p:pic>
      <p:pic>
        <p:nvPicPr>
          <p:cNvPr id="111" name="Google Shape;111;p14"/>
          <p:cNvPicPr preferRelativeResize="0"/>
          <p:nvPr/>
        </p:nvPicPr>
        <p:blipFill>
          <a:blip r:embed="rId5">
            <a:alphaModFix/>
          </a:blip>
          <a:stretch>
            <a:fillRect/>
          </a:stretch>
        </p:blipFill>
        <p:spPr>
          <a:xfrm>
            <a:off x="8823471" y="2047941"/>
            <a:ext cx="1878650" cy="1878675"/>
          </a:xfrm>
          <a:prstGeom prst="rect">
            <a:avLst/>
          </a:prstGeom>
          <a:noFill/>
          <a:ln>
            <a:noFill/>
          </a:ln>
        </p:spPr>
      </p:pic>
      <p:cxnSp>
        <p:nvCxnSpPr>
          <p:cNvPr id="112" name="Google Shape;112;p14"/>
          <p:cNvCxnSpPr/>
          <p:nvPr/>
        </p:nvCxnSpPr>
        <p:spPr>
          <a:xfrm>
            <a:off x="4747825" y="2987288"/>
            <a:ext cx="3097500" cy="0"/>
          </a:xfrm>
          <a:prstGeom prst="straightConnector1">
            <a:avLst/>
          </a:prstGeom>
          <a:noFill/>
          <a:ln cap="flat" cmpd="sng" w="9525">
            <a:solidFill>
              <a:schemeClr val="dk2"/>
            </a:solidFill>
            <a:prstDash val="solid"/>
            <a:round/>
            <a:headEnd len="med" w="med" type="none"/>
            <a:tailEnd len="med" w="med" type="none"/>
          </a:ln>
        </p:spPr>
      </p:cxnSp>
      <p:pic>
        <p:nvPicPr>
          <p:cNvPr id="113" name="Google Shape;113;p14"/>
          <p:cNvPicPr preferRelativeResize="0"/>
          <p:nvPr/>
        </p:nvPicPr>
        <p:blipFill>
          <a:blip r:embed="rId6">
            <a:alphaModFix/>
          </a:blip>
          <a:stretch>
            <a:fillRect/>
          </a:stretch>
        </p:blipFill>
        <p:spPr>
          <a:xfrm>
            <a:off x="5357249" y="4774500"/>
            <a:ext cx="1878650" cy="1878650"/>
          </a:xfrm>
          <a:prstGeom prst="rect">
            <a:avLst/>
          </a:prstGeom>
          <a:noFill/>
          <a:ln>
            <a:noFill/>
          </a:ln>
        </p:spPr>
      </p:pic>
      <p:sp>
        <p:nvSpPr>
          <p:cNvPr id="114" name="Google Shape;114;p14"/>
          <p:cNvSpPr txBox="1"/>
          <p:nvPr>
            <p:ph idx="3" type="body"/>
          </p:nvPr>
        </p:nvSpPr>
        <p:spPr>
          <a:xfrm>
            <a:off x="615400" y="1076650"/>
            <a:ext cx="3627600" cy="766500"/>
          </a:xfrm>
          <a:prstGeom prst="rect">
            <a:avLst/>
          </a:prstGeom>
        </p:spPr>
        <p:txBody>
          <a:bodyPr anchorCtr="0" anchor="b" bIns="45700" lIns="91425" spcFirstLastPara="1" rIns="91425" wrap="square" tIns="45700">
            <a:normAutofit lnSpcReduction="20000"/>
          </a:bodyPr>
          <a:lstStyle/>
          <a:p>
            <a:pPr indent="0" lvl="0" marL="0" rtl="0" algn="ctr">
              <a:spcBef>
                <a:spcPts val="1000"/>
              </a:spcBef>
              <a:spcAft>
                <a:spcPts val="0"/>
              </a:spcAft>
              <a:buNone/>
            </a:pPr>
            <a:r>
              <a:rPr lang="en-US"/>
              <a:t>Race</a:t>
            </a:r>
            <a:r>
              <a:rPr lang="en-US"/>
              <a:t> Dataset</a:t>
            </a:r>
            <a:endParaRPr/>
          </a:p>
          <a:p>
            <a:pPr indent="0" lvl="0" marL="0" rtl="0" algn="ctr">
              <a:spcBef>
                <a:spcPts val="1000"/>
              </a:spcBef>
              <a:spcAft>
                <a:spcPts val="0"/>
              </a:spcAft>
              <a:buNone/>
            </a:pPr>
            <a:r>
              <a:rPr b="0" lang="en-US"/>
              <a:t>Ergast API</a:t>
            </a:r>
            <a:endParaRPr b="0"/>
          </a:p>
        </p:txBody>
      </p:sp>
      <p:sp>
        <p:nvSpPr>
          <p:cNvPr id="115" name="Google Shape;115;p14"/>
          <p:cNvSpPr txBox="1"/>
          <p:nvPr>
            <p:ph idx="3" type="body"/>
          </p:nvPr>
        </p:nvSpPr>
        <p:spPr>
          <a:xfrm>
            <a:off x="4482775" y="4444050"/>
            <a:ext cx="3627600" cy="460800"/>
          </a:xfrm>
          <a:prstGeom prst="rect">
            <a:avLst/>
          </a:prstGeom>
        </p:spPr>
        <p:txBody>
          <a:bodyPr anchorCtr="0" anchor="b" bIns="45700" lIns="91425" spcFirstLastPara="1" rIns="91425" wrap="square" tIns="45700">
            <a:normAutofit/>
          </a:bodyPr>
          <a:lstStyle/>
          <a:p>
            <a:pPr indent="0" lvl="0" marL="0" rtl="0" algn="ctr">
              <a:spcBef>
                <a:spcPts val="1000"/>
              </a:spcBef>
              <a:spcAft>
                <a:spcPts val="0"/>
              </a:spcAft>
              <a:buNone/>
            </a:pPr>
            <a:r>
              <a:rPr lang="en-US"/>
              <a:t>Master</a:t>
            </a:r>
            <a:r>
              <a:rPr lang="en-US"/>
              <a:t> Dataset</a:t>
            </a:r>
            <a:endParaRPr/>
          </a:p>
        </p:txBody>
      </p:sp>
      <p:cxnSp>
        <p:nvCxnSpPr>
          <p:cNvPr id="116" name="Google Shape;116;p14"/>
          <p:cNvCxnSpPr/>
          <p:nvPr/>
        </p:nvCxnSpPr>
        <p:spPr>
          <a:xfrm>
            <a:off x="6292825" y="2987275"/>
            <a:ext cx="7500" cy="1264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Exploratory Data Analysis</a:t>
            </a:r>
            <a:endParaRPr/>
          </a:p>
        </p:txBody>
      </p:sp>
      <p:sp>
        <p:nvSpPr>
          <p:cNvPr id="122" name="Google Shape;122;p15"/>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381000" lvl="0" marL="457200" rtl="0" algn="l">
              <a:spcBef>
                <a:spcPts val="1000"/>
              </a:spcBef>
              <a:spcAft>
                <a:spcPts val="0"/>
              </a:spcAft>
              <a:buSzPts val="2400"/>
              <a:buAutoNum type="arabicPeriod"/>
            </a:pPr>
            <a:r>
              <a:rPr lang="en-US"/>
              <a:t>How have abnormal weather conditions influenced driver standings at the end of each race from 2018-2023?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6"/>
          <p:cNvPicPr preferRelativeResize="0"/>
          <p:nvPr/>
        </p:nvPicPr>
        <p:blipFill rotWithShape="1">
          <a:blip r:embed="rId3">
            <a:alphaModFix/>
          </a:blip>
          <a:srcRect b="0" l="0" r="704" t="0"/>
          <a:stretch/>
        </p:blipFill>
        <p:spPr>
          <a:xfrm>
            <a:off x="1161012" y="1031774"/>
            <a:ext cx="9869976" cy="5311600"/>
          </a:xfrm>
          <a:prstGeom prst="rect">
            <a:avLst/>
          </a:prstGeom>
          <a:noFill/>
          <a:ln>
            <a:noFill/>
          </a:ln>
        </p:spPr>
      </p:pic>
      <p:sp>
        <p:nvSpPr>
          <p:cNvPr id="128" name="Google Shape;128;p16"/>
          <p:cNvSpPr txBox="1"/>
          <p:nvPr>
            <p:ph type="title"/>
          </p:nvPr>
        </p:nvSpPr>
        <p:spPr>
          <a:xfrm>
            <a:off x="356638" y="-240675"/>
            <a:ext cx="3932100" cy="1600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Position Change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7"/>
          <p:cNvSpPr txBox="1"/>
          <p:nvPr>
            <p:ph type="title"/>
          </p:nvPr>
        </p:nvSpPr>
        <p:spPr>
          <a:xfrm>
            <a:off x="839788" y="457200"/>
            <a:ext cx="3932100" cy="1600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Position Change</a:t>
            </a:r>
            <a:endParaRPr/>
          </a:p>
        </p:txBody>
      </p:sp>
      <p:sp>
        <p:nvSpPr>
          <p:cNvPr id="134" name="Google Shape;134;p17"/>
          <p:cNvSpPr txBox="1"/>
          <p:nvPr>
            <p:ph idx="1" type="body"/>
          </p:nvPr>
        </p:nvSpPr>
        <p:spPr>
          <a:xfrm>
            <a:off x="839804" y="2057400"/>
            <a:ext cx="5300400" cy="3811500"/>
          </a:xfrm>
          <a:prstGeom prst="rect">
            <a:avLst/>
          </a:prstGeom>
        </p:spPr>
        <p:txBody>
          <a:bodyPr anchorCtr="0" anchor="t" bIns="45700" lIns="91425" spcFirstLastPara="1" rIns="91425" wrap="square" tIns="45700">
            <a:normAutofit/>
          </a:bodyPr>
          <a:lstStyle/>
          <a:p>
            <a:pPr indent="-330200" lvl="0" marL="457200" rtl="0" algn="l">
              <a:lnSpc>
                <a:spcPct val="115000"/>
              </a:lnSpc>
              <a:spcBef>
                <a:spcPts val="1000"/>
              </a:spcBef>
              <a:spcAft>
                <a:spcPts val="0"/>
              </a:spcAft>
              <a:buSzPts val="1600"/>
              <a:buChar char="➢"/>
            </a:pPr>
            <a:r>
              <a:rPr lang="en-US"/>
              <a:t>Average position change over one</a:t>
            </a:r>
            <a:endParaRPr/>
          </a:p>
          <a:p>
            <a:pPr indent="-330200" lvl="1" marL="914400" rtl="0" algn="l">
              <a:lnSpc>
                <a:spcPct val="115000"/>
              </a:lnSpc>
              <a:spcBef>
                <a:spcPts val="0"/>
              </a:spcBef>
              <a:spcAft>
                <a:spcPts val="0"/>
              </a:spcAft>
              <a:buSzPts val="1600"/>
              <a:buChar char="○"/>
            </a:pPr>
            <a:r>
              <a:rPr lang="en-US" sz="1600"/>
              <a:t>Abnormal Conditions: only 2 drivers</a:t>
            </a:r>
            <a:endParaRPr sz="1600"/>
          </a:p>
          <a:p>
            <a:pPr indent="-330200" lvl="1" marL="914400" rtl="0" algn="l">
              <a:lnSpc>
                <a:spcPct val="115000"/>
              </a:lnSpc>
              <a:spcBef>
                <a:spcPts val="0"/>
              </a:spcBef>
              <a:spcAft>
                <a:spcPts val="0"/>
              </a:spcAft>
              <a:buSzPts val="1600"/>
              <a:buChar char="○"/>
            </a:pPr>
            <a:r>
              <a:rPr lang="en-US" sz="1600"/>
              <a:t>Normal Conditions: 4 drivers</a:t>
            </a:r>
            <a:endParaRPr sz="1600"/>
          </a:p>
          <a:p>
            <a:pPr indent="-330200" lvl="0" marL="457200" rtl="0" algn="l">
              <a:lnSpc>
                <a:spcPct val="115000"/>
              </a:lnSpc>
              <a:spcBef>
                <a:spcPts val="0"/>
              </a:spcBef>
              <a:spcAft>
                <a:spcPts val="0"/>
              </a:spcAft>
              <a:buSzPts val="1600"/>
              <a:buChar char="➢"/>
            </a:pPr>
            <a:r>
              <a:rPr lang="en-US"/>
              <a:t>Most consistent drivers </a:t>
            </a:r>
            <a:r>
              <a:rPr lang="en-US"/>
              <a:t> have minimal change</a:t>
            </a:r>
            <a:endParaRPr/>
          </a:p>
          <a:p>
            <a:pPr indent="-330200" lvl="1" marL="914400" rtl="0" algn="l">
              <a:lnSpc>
                <a:spcPct val="115000"/>
              </a:lnSpc>
              <a:spcBef>
                <a:spcPts val="0"/>
              </a:spcBef>
              <a:spcAft>
                <a:spcPts val="0"/>
              </a:spcAft>
              <a:buSzPts val="1600"/>
              <a:buChar char="○"/>
            </a:pPr>
            <a:r>
              <a:rPr lang="en-US" sz="1600"/>
              <a:t>Albon</a:t>
            </a:r>
            <a:endParaRPr sz="1600"/>
          </a:p>
          <a:p>
            <a:pPr indent="-330200" lvl="1" marL="914400" rtl="0" algn="l">
              <a:lnSpc>
                <a:spcPct val="115000"/>
              </a:lnSpc>
              <a:spcBef>
                <a:spcPts val="0"/>
              </a:spcBef>
              <a:spcAft>
                <a:spcPts val="0"/>
              </a:spcAft>
              <a:buSzPts val="1600"/>
              <a:buChar char="○"/>
            </a:pPr>
            <a:r>
              <a:rPr lang="en-US" sz="1600"/>
              <a:t>Hamilton</a:t>
            </a:r>
            <a:endParaRPr sz="1600"/>
          </a:p>
          <a:p>
            <a:pPr indent="0" lvl="0" marL="0" rtl="0" algn="l">
              <a:lnSpc>
                <a:spcPct val="115000"/>
              </a:lnSpc>
              <a:spcBef>
                <a:spcPts val="1000"/>
              </a:spcBef>
              <a:spcAft>
                <a:spcPts val="0"/>
              </a:spcAft>
              <a:buNone/>
            </a:pPr>
            <a:r>
              <a:t/>
            </a:r>
            <a:endParaRPr sz="1600"/>
          </a:p>
        </p:txBody>
      </p:sp>
      <p:pic>
        <p:nvPicPr>
          <p:cNvPr id="135" name="Google Shape;135;p17"/>
          <p:cNvPicPr preferRelativeResize="0"/>
          <p:nvPr/>
        </p:nvPicPr>
        <p:blipFill>
          <a:blip r:embed="rId3">
            <a:alphaModFix/>
          </a:blip>
          <a:stretch>
            <a:fillRect/>
          </a:stretch>
        </p:blipFill>
        <p:spPr>
          <a:xfrm>
            <a:off x="8611354" y="-4775"/>
            <a:ext cx="2299228" cy="6553200"/>
          </a:xfrm>
          <a:prstGeom prst="rect">
            <a:avLst/>
          </a:prstGeom>
          <a:noFill/>
          <a:ln>
            <a:noFill/>
          </a:ln>
        </p:spPr>
      </p:pic>
      <p:sp>
        <p:nvSpPr>
          <p:cNvPr id="136" name="Google Shape;136;p17"/>
          <p:cNvSpPr txBox="1"/>
          <p:nvPr/>
        </p:nvSpPr>
        <p:spPr>
          <a:xfrm>
            <a:off x="8611350" y="6398700"/>
            <a:ext cx="3471000" cy="4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Play"/>
                <a:ea typeface="Play"/>
                <a:cs typeface="Play"/>
                <a:sym typeface="Play"/>
              </a:rPr>
              <a:t>sorted by Abnormal</a:t>
            </a:r>
            <a:r>
              <a:rPr lang="en-US" sz="2400">
                <a:solidFill>
                  <a:schemeClr val="dk1"/>
                </a:solidFill>
                <a:latin typeface="Play"/>
                <a:ea typeface="Play"/>
                <a:cs typeface="Play"/>
                <a:sym typeface="Play"/>
              </a:rPr>
              <a:t> </a:t>
            </a:r>
            <a:endParaRPr sz="2400">
              <a:solidFill>
                <a:schemeClr val="dk1"/>
              </a:solidFill>
              <a:latin typeface="Play"/>
              <a:ea typeface="Play"/>
              <a:cs typeface="Play"/>
              <a:sym typeface="Play"/>
            </a:endParaRPr>
          </a:p>
        </p:txBody>
      </p:sp>
      <p:sp>
        <p:nvSpPr>
          <p:cNvPr id="137" name="Google Shape;137;p17"/>
          <p:cNvSpPr/>
          <p:nvPr/>
        </p:nvSpPr>
        <p:spPr>
          <a:xfrm>
            <a:off x="8611350" y="6035375"/>
            <a:ext cx="2334000" cy="4593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138" name="Google Shape;138;p17"/>
          <p:cNvSpPr/>
          <p:nvPr/>
        </p:nvSpPr>
        <p:spPr>
          <a:xfrm>
            <a:off x="8646025" y="5010125"/>
            <a:ext cx="2299200" cy="5058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Exploratory Data Analysis</a:t>
            </a:r>
            <a:endParaRPr/>
          </a:p>
        </p:txBody>
      </p:sp>
      <p:sp>
        <p:nvSpPr>
          <p:cNvPr id="144" name="Google Shape;144;p18"/>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2. Do specific drivers exhibit different DNF(Did Not Finish) rates under varying weather conditions?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txBox="1"/>
          <p:nvPr>
            <p:ph type="title"/>
          </p:nvPr>
        </p:nvSpPr>
        <p:spPr>
          <a:xfrm>
            <a:off x="839788" y="457200"/>
            <a:ext cx="3932100" cy="1600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DNF Rate</a:t>
            </a:r>
            <a:endParaRPr/>
          </a:p>
        </p:txBody>
      </p:sp>
      <p:sp>
        <p:nvSpPr>
          <p:cNvPr id="150" name="Google Shape;150;p19"/>
          <p:cNvSpPr txBox="1"/>
          <p:nvPr>
            <p:ph idx="1" type="body"/>
          </p:nvPr>
        </p:nvSpPr>
        <p:spPr>
          <a:xfrm>
            <a:off x="626050" y="2057400"/>
            <a:ext cx="4439100" cy="3811500"/>
          </a:xfrm>
          <a:prstGeom prst="rect">
            <a:avLst/>
          </a:prstGeom>
        </p:spPr>
        <p:txBody>
          <a:bodyPr anchorCtr="0" anchor="t" bIns="45700" lIns="91425" spcFirstLastPara="1" rIns="91425" wrap="square" tIns="45700">
            <a:normAutofit/>
          </a:bodyPr>
          <a:lstStyle/>
          <a:p>
            <a:pPr indent="-330200" lvl="0" marL="457200" rtl="0" algn="l">
              <a:lnSpc>
                <a:spcPct val="115000"/>
              </a:lnSpc>
              <a:spcBef>
                <a:spcPts val="1000"/>
              </a:spcBef>
              <a:spcAft>
                <a:spcPts val="0"/>
              </a:spcAft>
              <a:buSzPts val="1600"/>
              <a:buChar char="➢"/>
            </a:pPr>
            <a:r>
              <a:rPr lang="en-US"/>
              <a:t>The majority of drivers displayed higher DNF rates in abnormal weather conditions compared to normal conditions</a:t>
            </a:r>
            <a:endParaRPr/>
          </a:p>
          <a:p>
            <a:pPr indent="-317500" lvl="1" marL="914400" rtl="0" algn="l">
              <a:lnSpc>
                <a:spcPct val="115000"/>
              </a:lnSpc>
              <a:spcBef>
                <a:spcPts val="0"/>
              </a:spcBef>
              <a:spcAft>
                <a:spcPts val="0"/>
              </a:spcAft>
              <a:buSzPts val="1400"/>
              <a:buChar char="○"/>
            </a:pPr>
            <a:r>
              <a:rPr lang="en-US"/>
              <a:t>Leclerc, Magnussen, Grosjean, and Verstappen are notable for their high DNF rates across both abnormal and normal weather conditions</a:t>
            </a:r>
            <a:endParaRPr/>
          </a:p>
          <a:p>
            <a:pPr indent="-317500" lvl="1" marL="914400" rtl="0" algn="l">
              <a:lnSpc>
                <a:spcPct val="115000"/>
              </a:lnSpc>
              <a:spcBef>
                <a:spcPts val="0"/>
              </a:spcBef>
              <a:spcAft>
                <a:spcPts val="0"/>
              </a:spcAft>
              <a:buSzPts val="1400"/>
              <a:buChar char="○"/>
            </a:pPr>
            <a:r>
              <a:rPr lang="en-US"/>
              <a:t>Ocon, representing Alpine, is particularly challenged by abnormal weather conditions, standing out in this category</a:t>
            </a:r>
            <a:endParaRPr/>
          </a:p>
        </p:txBody>
      </p:sp>
      <p:pic>
        <p:nvPicPr>
          <p:cNvPr id="151" name="Google Shape;151;p19"/>
          <p:cNvPicPr preferRelativeResize="0"/>
          <p:nvPr/>
        </p:nvPicPr>
        <p:blipFill>
          <a:blip r:embed="rId3">
            <a:alphaModFix/>
          </a:blip>
          <a:stretch>
            <a:fillRect/>
          </a:stretch>
        </p:blipFill>
        <p:spPr>
          <a:xfrm>
            <a:off x="5356700" y="205463"/>
            <a:ext cx="6508251" cy="6447074"/>
          </a:xfrm>
          <a:prstGeom prst="rect">
            <a:avLst/>
          </a:prstGeom>
          <a:noFill/>
          <a:ln>
            <a:noFill/>
          </a:ln>
        </p:spPr>
      </p:pic>
      <p:sp>
        <p:nvSpPr>
          <p:cNvPr id="152" name="Google Shape;152;p19"/>
          <p:cNvSpPr/>
          <p:nvPr/>
        </p:nvSpPr>
        <p:spPr>
          <a:xfrm>
            <a:off x="7741875" y="1694950"/>
            <a:ext cx="5151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153" name="Google Shape;153;p19"/>
          <p:cNvSpPr/>
          <p:nvPr/>
        </p:nvSpPr>
        <p:spPr>
          <a:xfrm>
            <a:off x="6657575" y="3222425"/>
            <a:ext cx="515100" cy="7758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154" name="Google Shape;154;p19"/>
          <p:cNvSpPr/>
          <p:nvPr/>
        </p:nvSpPr>
        <p:spPr>
          <a:xfrm>
            <a:off x="5658000" y="2969225"/>
            <a:ext cx="515100" cy="10290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155" name="Google Shape;155;p19"/>
          <p:cNvSpPr/>
          <p:nvPr/>
        </p:nvSpPr>
        <p:spPr>
          <a:xfrm>
            <a:off x="9329500" y="4553150"/>
            <a:ext cx="415200" cy="7227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156" name="Google Shape;156;p19"/>
          <p:cNvSpPr/>
          <p:nvPr/>
        </p:nvSpPr>
        <p:spPr>
          <a:xfrm>
            <a:off x="11188025" y="774550"/>
            <a:ext cx="629400" cy="7758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0"/>
          <p:cNvSpPr txBox="1"/>
          <p:nvPr>
            <p:ph type="title"/>
          </p:nvPr>
        </p:nvSpPr>
        <p:spPr>
          <a:xfrm>
            <a:off x="839788" y="457200"/>
            <a:ext cx="3932100" cy="1600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DNF Rate</a:t>
            </a:r>
            <a:endParaRPr/>
          </a:p>
        </p:txBody>
      </p:sp>
      <p:sp>
        <p:nvSpPr>
          <p:cNvPr id="162" name="Google Shape;162;p20"/>
          <p:cNvSpPr txBox="1"/>
          <p:nvPr>
            <p:ph idx="1" type="body"/>
          </p:nvPr>
        </p:nvSpPr>
        <p:spPr>
          <a:xfrm>
            <a:off x="839800" y="2057400"/>
            <a:ext cx="4426200" cy="3811500"/>
          </a:xfrm>
          <a:prstGeom prst="rect">
            <a:avLst/>
          </a:prstGeom>
        </p:spPr>
        <p:txBody>
          <a:bodyPr anchorCtr="0" anchor="t" bIns="45700" lIns="91425" spcFirstLastPara="1" rIns="91425" wrap="square" tIns="45700">
            <a:normAutofit/>
          </a:bodyPr>
          <a:lstStyle/>
          <a:p>
            <a:pPr indent="-330200" lvl="0" marL="457200" rtl="0" algn="l">
              <a:lnSpc>
                <a:spcPct val="115000"/>
              </a:lnSpc>
              <a:spcBef>
                <a:spcPts val="1000"/>
              </a:spcBef>
              <a:spcAft>
                <a:spcPts val="0"/>
              </a:spcAft>
              <a:buSzPts val="1600"/>
              <a:buChar char="➢"/>
            </a:pPr>
            <a:r>
              <a:rPr lang="en-US"/>
              <a:t>50% of the teams exhibited DNF rates exceeding 10% in abnormal weather conditions</a:t>
            </a:r>
            <a:endParaRPr/>
          </a:p>
          <a:p>
            <a:pPr indent="-317500" lvl="1" marL="914400" rtl="0" algn="l">
              <a:lnSpc>
                <a:spcPct val="115000"/>
              </a:lnSpc>
              <a:spcBef>
                <a:spcPts val="0"/>
              </a:spcBef>
              <a:spcAft>
                <a:spcPts val="0"/>
              </a:spcAft>
              <a:buSzPts val="1400"/>
              <a:buChar char="○"/>
            </a:pPr>
            <a:r>
              <a:rPr lang="en-US"/>
              <a:t>Ferrari and Haas are at the forefront with DNF rates of 16%</a:t>
            </a:r>
            <a:endParaRPr/>
          </a:p>
          <a:p>
            <a:pPr indent="-317500" lvl="1" marL="914400" rtl="0" algn="l">
              <a:lnSpc>
                <a:spcPct val="115000"/>
              </a:lnSpc>
              <a:spcBef>
                <a:spcPts val="0"/>
              </a:spcBef>
              <a:spcAft>
                <a:spcPts val="0"/>
              </a:spcAft>
              <a:buSzPts val="1400"/>
              <a:buChar char="○"/>
            </a:pPr>
            <a:r>
              <a:rPr lang="en-US"/>
              <a:t>Alongside Haas, both Red Bull and Williams teams face challenges with DNFs in normal weather conditions</a:t>
            </a:r>
            <a:endParaRPr/>
          </a:p>
          <a:p>
            <a:pPr indent="-330200" lvl="0" marL="457200" rtl="0" algn="l">
              <a:lnSpc>
                <a:spcPct val="115000"/>
              </a:lnSpc>
              <a:spcBef>
                <a:spcPts val="0"/>
              </a:spcBef>
              <a:spcAft>
                <a:spcPts val="0"/>
              </a:spcAft>
              <a:buSzPts val="1600"/>
              <a:buChar char="➢"/>
            </a:pPr>
            <a:r>
              <a:rPr lang="en-US"/>
              <a:t>Mercedes and Aston Martin maintain DNF rates surprisingly below 10% in both abnormal and normal weather conditions</a:t>
            </a:r>
            <a:endParaRPr/>
          </a:p>
        </p:txBody>
      </p:sp>
      <p:pic>
        <p:nvPicPr>
          <p:cNvPr id="163" name="Google Shape;163;p20"/>
          <p:cNvPicPr preferRelativeResize="0"/>
          <p:nvPr/>
        </p:nvPicPr>
        <p:blipFill>
          <a:blip r:embed="rId3">
            <a:alphaModFix/>
          </a:blip>
          <a:stretch>
            <a:fillRect/>
          </a:stretch>
        </p:blipFill>
        <p:spPr>
          <a:xfrm>
            <a:off x="7405281" y="807240"/>
            <a:ext cx="3099946" cy="5243525"/>
          </a:xfrm>
          <a:prstGeom prst="rect">
            <a:avLst/>
          </a:prstGeom>
          <a:noFill/>
          <a:ln>
            <a:noFill/>
          </a:ln>
        </p:spPr>
      </p:pic>
      <p:sp>
        <p:nvSpPr>
          <p:cNvPr id="164" name="Google Shape;164;p20"/>
          <p:cNvSpPr/>
          <p:nvPr/>
        </p:nvSpPr>
        <p:spPr>
          <a:xfrm>
            <a:off x="7540950" y="1095575"/>
            <a:ext cx="2964300" cy="697200"/>
          </a:xfrm>
          <a:prstGeom prst="rect">
            <a:avLst/>
          </a:prstGeom>
          <a:noFill/>
          <a:ln cap="flat" cmpd="sng" w="19050">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165" name="Google Shape;165;p20"/>
          <p:cNvSpPr/>
          <p:nvPr/>
        </p:nvSpPr>
        <p:spPr>
          <a:xfrm>
            <a:off x="7540950" y="4207425"/>
            <a:ext cx="2964300" cy="697200"/>
          </a:xfrm>
          <a:prstGeom prst="rect">
            <a:avLst/>
          </a:prstGeom>
          <a:noFill/>
          <a:ln cap="flat" cmpd="sng" w="19050">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Exploratory Data Analysis</a:t>
            </a:r>
            <a:endParaRPr/>
          </a:p>
        </p:txBody>
      </p:sp>
      <p:sp>
        <p:nvSpPr>
          <p:cNvPr id="171" name="Google Shape;171;p21"/>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3. What patterns emerge in driver’s performance across different weather conditions?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ph type="title"/>
          </p:nvPr>
        </p:nvSpPr>
        <p:spPr>
          <a:xfrm>
            <a:off x="839788" y="457200"/>
            <a:ext cx="3932100" cy="1600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Hot Conditions</a:t>
            </a:r>
            <a:endParaRPr/>
          </a:p>
        </p:txBody>
      </p:sp>
      <p:sp>
        <p:nvSpPr>
          <p:cNvPr id="177" name="Google Shape;177;p22"/>
          <p:cNvSpPr txBox="1"/>
          <p:nvPr>
            <p:ph idx="1" type="body"/>
          </p:nvPr>
        </p:nvSpPr>
        <p:spPr>
          <a:xfrm>
            <a:off x="839788" y="2057400"/>
            <a:ext cx="3932100" cy="3811500"/>
          </a:xfrm>
          <a:prstGeom prst="rect">
            <a:avLst/>
          </a:prstGeom>
        </p:spPr>
        <p:txBody>
          <a:bodyPr anchorCtr="0" anchor="ctr" bIns="45700" lIns="91425" spcFirstLastPara="1" rIns="91425" wrap="square" tIns="45700">
            <a:normAutofit/>
          </a:bodyPr>
          <a:lstStyle/>
          <a:p>
            <a:pPr indent="0" lvl="0" marL="0" rtl="0" algn="l">
              <a:lnSpc>
                <a:spcPct val="115000"/>
              </a:lnSpc>
              <a:spcBef>
                <a:spcPts val="1000"/>
              </a:spcBef>
              <a:spcAft>
                <a:spcPts val="0"/>
              </a:spcAft>
              <a:buNone/>
            </a:pPr>
            <a:r>
              <a:rPr b="1" lang="en-US"/>
              <a:t>Key Takeaways:</a:t>
            </a:r>
            <a:endParaRPr b="1"/>
          </a:p>
          <a:p>
            <a:pPr indent="-330200" lvl="0" marL="457200" rtl="0" algn="l">
              <a:lnSpc>
                <a:spcPct val="115000"/>
              </a:lnSpc>
              <a:spcBef>
                <a:spcPts val="1000"/>
              </a:spcBef>
              <a:spcAft>
                <a:spcPts val="0"/>
              </a:spcAft>
              <a:buSzPts val="1600"/>
              <a:buChar char="➢"/>
            </a:pPr>
            <a:r>
              <a:rPr lang="en-US"/>
              <a:t>Mercedes performs the best due to tighter interquartile (IQR) range with lower ending race positions</a:t>
            </a:r>
            <a:endParaRPr/>
          </a:p>
          <a:p>
            <a:pPr indent="-330200" lvl="0" marL="457200" rtl="0" algn="l">
              <a:lnSpc>
                <a:spcPct val="115000"/>
              </a:lnSpc>
              <a:spcBef>
                <a:spcPts val="0"/>
              </a:spcBef>
              <a:spcAft>
                <a:spcPts val="0"/>
              </a:spcAft>
              <a:buSzPts val="1600"/>
              <a:buChar char="➢"/>
            </a:pPr>
            <a:r>
              <a:rPr lang="en-US"/>
              <a:t>Ferrari have wider IQR range → more variability in their finishes</a:t>
            </a:r>
            <a:endParaRPr/>
          </a:p>
        </p:txBody>
      </p:sp>
      <p:pic>
        <p:nvPicPr>
          <p:cNvPr id="178" name="Google Shape;178;p22"/>
          <p:cNvPicPr preferRelativeResize="0"/>
          <p:nvPr/>
        </p:nvPicPr>
        <p:blipFill>
          <a:blip r:embed="rId3">
            <a:alphaModFix/>
          </a:blip>
          <a:stretch>
            <a:fillRect/>
          </a:stretch>
        </p:blipFill>
        <p:spPr>
          <a:xfrm>
            <a:off x="5268908" y="0"/>
            <a:ext cx="6923094" cy="6858001"/>
          </a:xfrm>
          <a:prstGeom prst="rect">
            <a:avLst/>
          </a:prstGeom>
          <a:noFill/>
          <a:ln>
            <a:noFill/>
          </a:ln>
        </p:spPr>
      </p:pic>
      <p:sp>
        <p:nvSpPr>
          <p:cNvPr id="179" name="Google Shape;179;p22"/>
          <p:cNvSpPr/>
          <p:nvPr/>
        </p:nvSpPr>
        <p:spPr>
          <a:xfrm>
            <a:off x="9964200" y="2801675"/>
            <a:ext cx="2227800" cy="1278900"/>
          </a:xfrm>
          <a:prstGeom prst="rect">
            <a:avLst/>
          </a:prstGeom>
          <a:noFill/>
          <a:ln cap="flat" cmpd="sng" w="19050">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180" name="Google Shape;180;p22"/>
          <p:cNvSpPr/>
          <p:nvPr/>
        </p:nvSpPr>
        <p:spPr>
          <a:xfrm>
            <a:off x="7736400" y="1419250"/>
            <a:ext cx="2227800" cy="1278900"/>
          </a:xfrm>
          <a:prstGeom prst="rect">
            <a:avLst/>
          </a:prstGeom>
          <a:noFill/>
          <a:ln cap="flat" cmpd="sng" w="19050">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839788" y="457200"/>
            <a:ext cx="3932100" cy="1600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Wet Conditions</a:t>
            </a:r>
            <a:endParaRPr/>
          </a:p>
        </p:txBody>
      </p:sp>
      <p:sp>
        <p:nvSpPr>
          <p:cNvPr id="186" name="Google Shape;186;p23"/>
          <p:cNvSpPr txBox="1"/>
          <p:nvPr>
            <p:ph idx="1" type="body"/>
          </p:nvPr>
        </p:nvSpPr>
        <p:spPr>
          <a:xfrm>
            <a:off x="839788" y="2057400"/>
            <a:ext cx="3932100" cy="3811500"/>
          </a:xfrm>
          <a:prstGeom prst="rect">
            <a:avLst/>
          </a:prstGeom>
        </p:spPr>
        <p:txBody>
          <a:bodyPr anchorCtr="0" anchor="ctr" bIns="45700" lIns="91425" spcFirstLastPara="1" rIns="91425" wrap="square" tIns="45700">
            <a:normAutofit/>
          </a:bodyPr>
          <a:lstStyle/>
          <a:p>
            <a:pPr indent="0" lvl="0" marL="0" rtl="0" algn="l">
              <a:lnSpc>
                <a:spcPct val="115000"/>
              </a:lnSpc>
              <a:spcBef>
                <a:spcPts val="1000"/>
              </a:spcBef>
              <a:spcAft>
                <a:spcPts val="0"/>
              </a:spcAft>
              <a:buClr>
                <a:schemeClr val="dk1"/>
              </a:buClr>
              <a:buSzPts val="1100"/>
              <a:buFont typeface="Arial"/>
              <a:buNone/>
            </a:pPr>
            <a:r>
              <a:rPr b="1" lang="en-US"/>
              <a:t>Key Takeaways:</a:t>
            </a:r>
            <a:endParaRPr b="1"/>
          </a:p>
          <a:p>
            <a:pPr indent="-330200" lvl="0" marL="457200" rtl="0" algn="l">
              <a:lnSpc>
                <a:spcPct val="115000"/>
              </a:lnSpc>
              <a:spcBef>
                <a:spcPts val="1000"/>
              </a:spcBef>
              <a:spcAft>
                <a:spcPts val="0"/>
              </a:spcAft>
              <a:buSzPts val="1600"/>
              <a:buChar char="➢"/>
            </a:pPr>
            <a:r>
              <a:rPr lang="en-US"/>
              <a:t>Verstappen, Hamilton, Bottas performs exceptionally well under wet conditions with a few outliers</a:t>
            </a:r>
            <a:endParaRPr/>
          </a:p>
          <a:p>
            <a:pPr indent="-330200" lvl="0" marL="457200" rtl="0" algn="l">
              <a:lnSpc>
                <a:spcPct val="115000"/>
              </a:lnSpc>
              <a:spcBef>
                <a:spcPts val="0"/>
              </a:spcBef>
              <a:spcAft>
                <a:spcPts val="0"/>
              </a:spcAft>
              <a:buSzPts val="1600"/>
              <a:buChar char="➢"/>
            </a:pPr>
            <a:r>
              <a:rPr lang="en-US"/>
              <a:t>These 3 drivers are known for driving under wet conditions</a:t>
            </a:r>
            <a:endParaRPr/>
          </a:p>
        </p:txBody>
      </p:sp>
      <p:pic>
        <p:nvPicPr>
          <p:cNvPr id="187" name="Google Shape;187;p23"/>
          <p:cNvPicPr preferRelativeResize="0"/>
          <p:nvPr/>
        </p:nvPicPr>
        <p:blipFill>
          <a:blip r:embed="rId3">
            <a:alphaModFix/>
          </a:blip>
          <a:stretch>
            <a:fillRect/>
          </a:stretch>
        </p:blipFill>
        <p:spPr>
          <a:xfrm>
            <a:off x="5268908" y="0"/>
            <a:ext cx="6923094" cy="6858001"/>
          </a:xfrm>
          <a:prstGeom prst="rect">
            <a:avLst/>
          </a:prstGeom>
          <a:noFill/>
          <a:ln>
            <a:noFill/>
          </a:ln>
        </p:spPr>
      </p:pic>
      <p:sp>
        <p:nvSpPr>
          <p:cNvPr id="188" name="Google Shape;188;p23"/>
          <p:cNvSpPr/>
          <p:nvPr/>
        </p:nvSpPr>
        <p:spPr>
          <a:xfrm>
            <a:off x="9473600" y="4322575"/>
            <a:ext cx="4464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189" name="Google Shape;189;p23"/>
          <p:cNvSpPr/>
          <p:nvPr/>
        </p:nvSpPr>
        <p:spPr>
          <a:xfrm>
            <a:off x="10764000" y="2970125"/>
            <a:ext cx="6459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190" name="Google Shape;190;p23"/>
          <p:cNvSpPr/>
          <p:nvPr/>
        </p:nvSpPr>
        <p:spPr>
          <a:xfrm>
            <a:off x="10040425" y="2970125"/>
            <a:ext cx="6459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ph type="title"/>
          </p:nvPr>
        </p:nvSpPr>
        <p:spPr>
          <a:xfrm>
            <a:off x="839788" y="457200"/>
            <a:ext cx="3932100" cy="1600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Normal Conditions</a:t>
            </a:r>
            <a:endParaRPr/>
          </a:p>
        </p:txBody>
      </p:sp>
      <p:sp>
        <p:nvSpPr>
          <p:cNvPr id="196" name="Google Shape;196;p24"/>
          <p:cNvSpPr txBox="1"/>
          <p:nvPr>
            <p:ph idx="1" type="body"/>
          </p:nvPr>
        </p:nvSpPr>
        <p:spPr>
          <a:xfrm>
            <a:off x="839788" y="2057400"/>
            <a:ext cx="3932100" cy="3811500"/>
          </a:xfrm>
          <a:prstGeom prst="rect">
            <a:avLst/>
          </a:prstGeom>
        </p:spPr>
        <p:txBody>
          <a:bodyPr anchorCtr="0" anchor="ctr" bIns="45700" lIns="91425" spcFirstLastPara="1" rIns="91425" wrap="square" tIns="45700">
            <a:normAutofit/>
          </a:bodyPr>
          <a:lstStyle/>
          <a:p>
            <a:pPr indent="0" lvl="0" marL="0" rtl="0" algn="l">
              <a:lnSpc>
                <a:spcPct val="115000"/>
              </a:lnSpc>
              <a:spcBef>
                <a:spcPts val="1000"/>
              </a:spcBef>
              <a:spcAft>
                <a:spcPts val="0"/>
              </a:spcAft>
              <a:buNone/>
            </a:pPr>
            <a:r>
              <a:rPr b="1" lang="en-US"/>
              <a:t>Key Takeaways:</a:t>
            </a:r>
            <a:endParaRPr b="1"/>
          </a:p>
          <a:p>
            <a:pPr indent="-330200" lvl="0" marL="457200" rtl="0" algn="l">
              <a:lnSpc>
                <a:spcPct val="115000"/>
              </a:lnSpc>
              <a:spcBef>
                <a:spcPts val="1000"/>
              </a:spcBef>
              <a:spcAft>
                <a:spcPts val="0"/>
              </a:spcAft>
              <a:buSzPts val="1600"/>
              <a:buChar char="➢"/>
            </a:pPr>
            <a:r>
              <a:rPr lang="en-US"/>
              <a:t>More variability due to more data points</a:t>
            </a:r>
            <a:endParaRPr/>
          </a:p>
          <a:p>
            <a:pPr indent="-330200" lvl="0" marL="457200" rtl="0" algn="l">
              <a:lnSpc>
                <a:spcPct val="115000"/>
              </a:lnSpc>
              <a:spcBef>
                <a:spcPts val="0"/>
              </a:spcBef>
              <a:spcAft>
                <a:spcPts val="0"/>
              </a:spcAft>
              <a:buSzPts val="1600"/>
              <a:buChar char="➢"/>
            </a:pPr>
            <a:r>
              <a:rPr lang="en-US"/>
              <a:t>Lots of drivers did better under a specific abnormal weather conditions</a:t>
            </a:r>
            <a:endParaRPr/>
          </a:p>
          <a:p>
            <a:pPr indent="-330200" lvl="0" marL="457200" rtl="0" algn="l">
              <a:lnSpc>
                <a:spcPct val="115000"/>
              </a:lnSpc>
              <a:spcBef>
                <a:spcPts val="0"/>
              </a:spcBef>
              <a:spcAft>
                <a:spcPts val="0"/>
              </a:spcAft>
              <a:buSzPts val="1600"/>
              <a:buChar char="➢"/>
            </a:pPr>
            <a:r>
              <a:rPr lang="en-US"/>
              <a:t>Theory: under controlled weather, drivers tend to take more risks</a:t>
            </a:r>
            <a:endParaRPr/>
          </a:p>
        </p:txBody>
      </p:sp>
      <p:pic>
        <p:nvPicPr>
          <p:cNvPr id="197" name="Google Shape;197;p24"/>
          <p:cNvPicPr preferRelativeResize="0"/>
          <p:nvPr/>
        </p:nvPicPr>
        <p:blipFill>
          <a:blip r:embed="rId3">
            <a:alphaModFix/>
          </a:blip>
          <a:stretch>
            <a:fillRect/>
          </a:stretch>
        </p:blipFill>
        <p:spPr>
          <a:xfrm>
            <a:off x="5268908" y="0"/>
            <a:ext cx="6923094" cy="68580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Conclusion</a:t>
            </a:r>
            <a:endParaRPr/>
          </a:p>
        </p:txBody>
      </p:sp>
      <p:sp>
        <p:nvSpPr>
          <p:cNvPr id="203" name="Google Shape;203;p25"/>
          <p:cNvSpPr txBox="1"/>
          <p:nvPr>
            <p:ph idx="1" type="body"/>
          </p:nvPr>
        </p:nvSpPr>
        <p:spPr>
          <a:xfrm>
            <a:off x="838200" y="1460174"/>
            <a:ext cx="10515600" cy="4716900"/>
          </a:xfrm>
          <a:prstGeom prst="rect">
            <a:avLst/>
          </a:prstGeom>
        </p:spPr>
        <p:txBody>
          <a:bodyPr anchorCtr="0" anchor="t" bIns="45700" lIns="91425" spcFirstLastPara="1" rIns="91425" wrap="square" tIns="45700">
            <a:normAutofit fontScale="85000" lnSpcReduction="20000"/>
          </a:bodyPr>
          <a:lstStyle/>
          <a:p>
            <a:pPr indent="-347345" lvl="0" marL="457200" rtl="0" algn="l">
              <a:lnSpc>
                <a:spcPct val="150000"/>
              </a:lnSpc>
              <a:spcBef>
                <a:spcPts val="1000"/>
              </a:spcBef>
              <a:spcAft>
                <a:spcPts val="0"/>
              </a:spcAft>
              <a:buSzPct val="100000"/>
              <a:buChar char="➢"/>
            </a:pPr>
            <a:r>
              <a:rPr lang="en-US" sz="2200"/>
              <a:t>Abnormal weather conditions contribute to a high volume of races per season, posing frequent challenges for F1 drivers</a:t>
            </a:r>
            <a:endParaRPr sz="2200"/>
          </a:p>
          <a:p>
            <a:pPr indent="-347345" lvl="0" marL="457200" rtl="0" algn="l">
              <a:lnSpc>
                <a:spcPct val="150000"/>
              </a:lnSpc>
              <a:spcBef>
                <a:spcPts val="0"/>
              </a:spcBef>
              <a:spcAft>
                <a:spcPts val="0"/>
              </a:spcAft>
              <a:buSzPct val="100000"/>
              <a:buChar char="➢"/>
            </a:pPr>
            <a:r>
              <a:rPr lang="en-US" sz="2200"/>
              <a:t>These conditions lead to an increased DNF (Did Not Finish) rate of 15%, compared to a 14% rate in normal weather</a:t>
            </a:r>
            <a:endParaRPr sz="2200"/>
          </a:p>
          <a:p>
            <a:pPr indent="-347345" lvl="0" marL="457200" rtl="0" algn="l">
              <a:lnSpc>
                <a:spcPct val="150000"/>
              </a:lnSpc>
              <a:spcBef>
                <a:spcPts val="0"/>
              </a:spcBef>
              <a:spcAft>
                <a:spcPts val="0"/>
              </a:spcAft>
              <a:buSzPct val="100000"/>
              <a:buChar char="➢"/>
            </a:pPr>
            <a:r>
              <a:rPr lang="en-US" sz="2200"/>
              <a:t>Haas experiences the highest DNF rates in both weather categories</a:t>
            </a:r>
            <a:endParaRPr sz="2200"/>
          </a:p>
          <a:p>
            <a:pPr indent="-325755" lvl="1" marL="914400" rtl="0" algn="l">
              <a:lnSpc>
                <a:spcPct val="150000"/>
              </a:lnSpc>
              <a:spcBef>
                <a:spcPts val="0"/>
              </a:spcBef>
              <a:spcAft>
                <a:spcPts val="0"/>
              </a:spcAft>
              <a:buSzPct val="100000"/>
              <a:buChar char="○"/>
            </a:pPr>
            <a:r>
              <a:rPr lang="en-US" sz="1800"/>
              <a:t>Kevin Magnussen has the highest individual DNF rates across all weather categories.</a:t>
            </a:r>
            <a:endParaRPr sz="1800"/>
          </a:p>
          <a:p>
            <a:pPr indent="-325755" lvl="1" marL="914400" rtl="0" algn="l">
              <a:lnSpc>
                <a:spcPct val="150000"/>
              </a:lnSpc>
              <a:spcBef>
                <a:spcPts val="0"/>
              </a:spcBef>
              <a:spcAft>
                <a:spcPts val="0"/>
              </a:spcAft>
              <a:buSzPct val="100000"/>
              <a:buChar char="○"/>
            </a:pPr>
            <a:r>
              <a:rPr lang="en-US" sz="1800"/>
              <a:t>Romain Grosjean, his teammate, is also close behind in terms of high DNF rates</a:t>
            </a:r>
            <a:endParaRPr sz="1800"/>
          </a:p>
          <a:p>
            <a:pPr indent="-347345" lvl="0" marL="457200" rtl="0" algn="l">
              <a:lnSpc>
                <a:spcPct val="150000"/>
              </a:lnSpc>
              <a:spcBef>
                <a:spcPts val="0"/>
              </a:spcBef>
              <a:spcAft>
                <a:spcPts val="0"/>
              </a:spcAft>
              <a:buSzPct val="100000"/>
              <a:buChar char="➢"/>
            </a:pPr>
            <a:r>
              <a:rPr lang="en-US" sz="2200"/>
              <a:t>Max Verstappen has one of the highest DNF rates in both weather categories, yet he consistently ranks among the top performers</a:t>
            </a:r>
            <a:endParaRPr sz="2200"/>
          </a:p>
          <a:p>
            <a:pPr indent="-347345" lvl="0" marL="457200" rtl="0" algn="l">
              <a:lnSpc>
                <a:spcPct val="150000"/>
              </a:lnSpc>
              <a:spcBef>
                <a:spcPts val="0"/>
              </a:spcBef>
              <a:spcAft>
                <a:spcPts val="0"/>
              </a:spcAft>
              <a:buSzPct val="100000"/>
              <a:buChar char="➢"/>
            </a:pPr>
            <a:r>
              <a:rPr lang="en-US" sz="2200"/>
              <a:t>Mercedes and Aston Martin demonstrate remarkable reliability, maintaining lower DNF rates in both weather categories</a:t>
            </a:r>
            <a:endParaRPr sz="2200"/>
          </a:p>
          <a:p>
            <a:pPr indent="-325755" lvl="1" marL="914400" rtl="0" algn="l">
              <a:lnSpc>
                <a:spcPct val="150000"/>
              </a:lnSpc>
              <a:spcBef>
                <a:spcPts val="0"/>
              </a:spcBef>
              <a:spcAft>
                <a:spcPts val="0"/>
              </a:spcAft>
              <a:buSzPct val="100000"/>
              <a:buChar char="○"/>
            </a:pPr>
            <a:r>
              <a:rPr lang="en-US" sz="1800"/>
              <a:t>Lewis Hamilton stands out as one of the few drivers with DNF rates below 5% in both weather categories and consistently ranks among the top performers</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Q&amp;A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831850" y="1709738"/>
            <a:ext cx="10515600" cy="285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Appendix</a:t>
            </a:r>
            <a:endParaRPr/>
          </a:p>
        </p:txBody>
      </p:sp>
      <p:sp>
        <p:nvSpPr>
          <p:cNvPr id="214" name="Google Shape;214;p27"/>
          <p:cNvSpPr txBox="1"/>
          <p:nvPr>
            <p:ph idx="1" type="body"/>
          </p:nvPr>
        </p:nvSpPr>
        <p:spPr>
          <a:xfrm>
            <a:off x="831850" y="4589463"/>
            <a:ext cx="10515600" cy="1500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Abnormal Weather Criteria</a:t>
            </a:r>
            <a:endParaRPr/>
          </a:p>
        </p:txBody>
      </p:sp>
      <p:sp>
        <p:nvSpPr>
          <p:cNvPr id="220" name="Google Shape;220;p28"/>
          <p:cNvSpPr txBox="1"/>
          <p:nvPr>
            <p:ph idx="1" type="body"/>
          </p:nvPr>
        </p:nvSpPr>
        <p:spPr>
          <a:xfrm>
            <a:off x="838200" y="1789611"/>
            <a:ext cx="10515600" cy="4387500"/>
          </a:xfrm>
          <a:prstGeom prst="rect">
            <a:avLst/>
          </a:prstGeom>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1100"/>
              <a:buFont typeface="Arial"/>
              <a:buNone/>
            </a:pPr>
            <a:r>
              <a:rPr lang="en-US" sz="2000"/>
              <a:t>We defined the criteria for abnormal weather conditions as follows:</a:t>
            </a:r>
            <a:endParaRPr sz="2000"/>
          </a:p>
          <a:p>
            <a:pPr indent="-355600" lvl="0" marL="457200" rtl="0" algn="l">
              <a:lnSpc>
                <a:spcPct val="150000"/>
              </a:lnSpc>
              <a:spcBef>
                <a:spcPts val="0"/>
              </a:spcBef>
              <a:spcAft>
                <a:spcPts val="0"/>
              </a:spcAft>
              <a:buSzPts val="2000"/>
              <a:buFont typeface="Play"/>
              <a:buChar char="➢"/>
            </a:pPr>
            <a:r>
              <a:rPr lang="en-US" sz="2000"/>
              <a:t>Wet conditions: any race where precipitation is greater than 0 inches</a:t>
            </a:r>
            <a:endParaRPr sz="2000"/>
          </a:p>
          <a:p>
            <a:pPr indent="-355600" lvl="0" marL="457200" rtl="0" algn="l">
              <a:lnSpc>
                <a:spcPct val="150000"/>
              </a:lnSpc>
              <a:spcBef>
                <a:spcPts val="0"/>
              </a:spcBef>
              <a:spcAft>
                <a:spcPts val="0"/>
              </a:spcAft>
              <a:buSzPts val="2000"/>
              <a:buFont typeface="Play"/>
              <a:buChar char="➢"/>
            </a:pPr>
            <a:r>
              <a:rPr lang="en-US" sz="2000"/>
              <a:t>Windy conditions: any race where the wind speed was greater than 25 miles per hour</a:t>
            </a:r>
            <a:endParaRPr sz="2000"/>
          </a:p>
          <a:p>
            <a:pPr indent="-355600" lvl="0" marL="457200" rtl="0" algn="l">
              <a:lnSpc>
                <a:spcPct val="150000"/>
              </a:lnSpc>
              <a:spcBef>
                <a:spcPts val="0"/>
              </a:spcBef>
              <a:spcAft>
                <a:spcPts val="0"/>
              </a:spcAft>
              <a:buSzPts val="2000"/>
              <a:buFont typeface="Play"/>
              <a:buChar char="➢"/>
            </a:pPr>
            <a:r>
              <a:rPr lang="en-US" sz="2000"/>
              <a:t>Cold conditions: the bottom 10% of races by temperature, includes all races 62.4 degrees and below</a:t>
            </a:r>
            <a:endParaRPr sz="2000"/>
          </a:p>
          <a:p>
            <a:pPr indent="-355600" lvl="0" marL="457200" rtl="0" algn="l">
              <a:lnSpc>
                <a:spcPct val="150000"/>
              </a:lnSpc>
              <a:spcBef>
                <a:spcPts val="0"/>
              </a:spcBef>
              <a:spcAft>
                <a:spcPts val="0"/>
              </a:spcAft>
              <a:buSzPts val="2000"/>
              <a:buFont typeface="Play"/>
              <a:buChar char="➢"/>
            </a:pPr>
            <a:r>
              <a:rPr lang="en-US" sz="2000"/>
              <a:t>Hot conditions: the top 20% of races by temperature, includes all races 80.3 degrees and above</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type="title"/>
          </p:nvPr>
        </p:nvSpPr>
        <p:spPr>
          <a:xfrm>
            <a:off x="839788" y="457200"/>
            <a:ext cx="3932100" cy="1600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Cold Conditions</a:t>
            </a:r>
            <a:endParaRPr/>
          </a:p>
        </p:txBody>
      </p:sp>
      <p:sp>
        <p:nvSpPr>
          <p:cNvPr id="226" name="Google Shape;226;p29"/>
          <p:cNvSpPr txBox="1"/>
          <p:nvPr>
            <p:ph idx="1" type="body"/>
          </p:nvPr>
        </p:nvSpPr>
        <p:spPr>
          <a:xfrm>
            <a:off x="839788" y="2057400"/>
            <a:ext cx="3932100" cy="3811500"/>
          </a:xfrm>
          <a:prstGeom prst="rect">
            <a:avLst/>
          </a:prstGeom>
        </p:spPr>
        <p:txBody>
          <a:bodyPr anchorCtr="0" anchor="ctr" bIns="45700" lIns="91425" spcFirstLastPara="1" rIns="91425" wrap="square" tIns="45700">
            <a:normAutofit/>
          </a:bodyPr>
          <a:lstStyle/>
          <a:p>
            <a:pPr indent="0" lvl="0" marL="0" rtl="0" algn="l">
              <a:lnSpc>
                <a:spcPct val="115000"/>
              </a:lnSpc>
              <a:spcBef>
                <a:spcPts val="1000"/>
              </a:spcBef>
              <a:spcAft>
                <a:spcPts val="0"/>
              </a:spcAft>
              <a:buClr>
                <a:schemeClr val="dk1"/>
              </a:buClr>
              <a:buSzPts val="1100"/>
              <a:buFont typeface="Arial"/>
              <a:buNone/>
            </a:pPr>
            <a:r>
              <a:rPr b="1" lang="en-US"/>
              <a:t>Key Takeaways:</a:t>
            </a:r>
            <a:endParaRPr b="1"/>
          </a:p>
          <a:p>
            <a:pPr indent="-330200" lvl="0" marL="457200" rtl="0" algn="l">
              <a:lnSpc>
                <a:spcPct val="115000"/>
              </a:lnSpc>
              <a:spcBef>
                <a:spcPts val="1000"/>
              </a:spcBef>
              <a:spcAft>
                <a:spcPts val="0"/>
              </a:spcAft>
              <a:buSzPts val="1600"/>
              <a:buChar char="➢"/>
            </a:pPr>
            <a:r>
              <a:rPr lang="en-US"/>
              <a:t>Verstappen, Hamilton, Perez, Vettel and Alonso performs exceptionally well under cold conditions with a few outliers</a:t>
            </a:r>
            <a:endParaRPr/>
          </a:p>
          <a:p>
            <a:pPr indent="-330200" lvl="0" marL="457200" rtl="0" algn="l">
              <a:lnSpc>
                <a:spcPct val="115000"/>
              </a:lnSpc>
              <a:spcBef>
                <a:spcPts val="0"/>
              </a:spcBef>
              <a:spcAft>
                <a:spcPts val="0"/>
              </a:spcAft>
              <a:buSzPts val="1600"/>
              <a:buChar char="➢"/>
            </a:pPr>
            <a:r>
              <a:rPr lang="en-US"/>
              <a:t>Bottas, Russell and Ricciardo performs worse in this weather</a:t>
            </a:r>
            <a:endParaRPr/>
          </a:p>
        </p:txBody>
      </p:sp>
      <p:pic>
        <p:nvPicPr>
          <p:cNvPr id="227" name="Google Shape;227;p29"/>
          <p:cNvPicPr preferRelativeResize="0"/>
          <p:nvPr/>
        </p:nvPicPr>
        <p:blipFill>
          <a:blip r:embed="rId3">
            <a:alphaModFix/>
          </a:blip>
          <a:stretch>
            <a:fillRect/>
          </a:stretch>
        </p:blipFill>
        <p:spPr>
          <a:xfrm>
            <a:off x="5268901" y="0"/>
            <a:ext cx="6923094" cy="6858001"/>
          </a:xfrm>
          <a:prstGeom prst="rect">
            <a:avLst/>
          </a:prstGeom>
          <a:noFill/>
          <a:ln>
            <a:noFill/>
          </a:ln>
        </p:spPr>
      </p:pic>
      <p:sp>
        <p:nvSpPr>
          <p:cNvPr id="228" name="Google Shape;228;p29"/>
          <p:cNvSpPr/>
          <p:nvPr/>
        </p:nvSpPr>
        <p:spPr>
          <a:xfrm>
            <a:off x="10751200" y="2964800"/>
            <a:ext cx="6588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229" name="Google Shape;229;p29"/>
          <p:cNvSpPr/>
          <p:nvPr/>
        </p:nvSpPr>
        <p:spPr>
          <a:xfrm>
            <a:off x="9473600" y="4322575"/>
            <a:ext cx="4464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230" name="Google Shape;230;p29"/>
          <p:cNvSpPr/>
          <p:nvPr/>
        </p:nvSpPr>
        <p:spPr>
          <a:xfrm>
            <a:off x="11153325" y="1607500"/>
            <a:ext cx="9306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231" name="Google Shape;231;p29"/>
          <p:cNvSpPr/>
          <p:nvPr/>
        </p:nvSpPr>
        <p:spPr>
          <a:xfrm>
            <a:off x="5555800" y="1607500"/>
            <a:ext cx="6588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232" name="Google Shape;232;p29"/>
          <p:cNvSpPr/>
          <p:nvPr/>
        </p:nvSpPr>
        <p:spPr>
          <a:xfrm>
            <a:off x="9388575" y="1607500"/>
            <a:ext cx="5313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592950" y="457200"/>
            <a:ext cx="4179000" cy="1600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Cold/Wet Conditions</a:t>
            </a:r>
            <a:endParaRPr/>
          </a:p>
        </p:txBody>
      </p:sp>
      <p:sp>
        <p:nvSpPr>
          <p:cNvPr id="238" name="Google Shape;238;p30"/>
          <p:cNvSpPr txBox="1"/>
          <p:nvPr>
            <p:ph idx="1" type="body"/>
          </p:nvPr>
        </p:nvSpPr>
        <p:spPr>
          <a:xfrm>
            <a:off x="592901" y="2057400"/>
            <a:ext cx="4179000" cy="3811500"/>
          </a:xfrm>
          <a:prstGeom prst="rect">
            <a:avLst/>
          </a:prstGeom>
        </p:spPr>
        <p:txBody>
          <a:bodyPr anchorCtr="0" anchor="ctr" bIns="45700" lIns="91425" spcFirstLastPara="1" rIns="91425" wrap="square" tIns="45700">
            <a:normAutofit/>
          </a:bodyPr>
          <a:lstStyle/>
          <a:p>
            <a:pPr indent="0" lvl="0" marL="0" rtl="0" algn="l">
              <a:lnSpc>
                <a:spcPct val="115000"/>
              </a:lnSpc>
              <a:spcBef>
                <a:spcPts val="1000"/>
              </a:spcBef>
              <a:spcAft>
                <a:spcPts val="0"/>
              </a:spcAft>
              <a:buNone/>
            </a:pPr>
            <a:r>
              <a:rPr b="1" lang="en-US"/>
              <a:t>Key Takeaways:</a:t>
            </a:r>
            <a:endParaRPr b="1"/>
          </a:p>
          <a:p>
            <a:pPr indent="-330200" lvl="0" marL="457200" rtl="0" algn="l">
              <a:lnSpc>
                <a:spcPct val="115000"/>
              </a:lnSpc>
              <a:spcBef>
                <a:spcPts val="1000"/>
              </a:spcBef>
              <a:spcAft>
                <a:spcPts val="0"/>
              </a:spcAft>
              <a:buSzPts val="1600"/>
              <a:buChar char="➢"/>
            </a:pPr>
            <a:r>
              <a:rPr lang="en-US"/>
              <a:t>169 entries for this combination of weather </a:t>
            </a:r>
            <a:endParaRPr/>
          </a:p>
          <a:p>
            <a:pPr indent="-330200" lvl="0" marL="457200" rtl="0" algn="l">
              <a:lnSpc>
                <a:spcPct val="115000"/>
              </a:lnSpc>
              <a:spcBef>
                <a:spcPts val="0"/>
              </a:spcBef>
              <a:spcAft>
                <a:spcPts val="0"/>
              </a:spcAft>
              <a:buSzPts val="1600"/>
              <a:buChar char="➢"/>
            </a:pPr>
            <a:r>
              <a:rPr lang="en-US"/>
              <a:t>Lots of drivers have only raced once</a:t>
            </a:r>
            <a:endParaRPr/>
          </a:p>
          <a:p>
            <a:pPr indent="-330200" lvl="0" marL="457200" rtl="0" algn="l">
              <a:lnSpc>
                <a:spcPct val="115000"/>
              </a:lnSpc>
              <a:spcBef>
                <a:spcPts val="0"/>
              </a:spcBef>
              <a:spcAft>
                <a:spcPts val="0"/>
              </a:spcAft>
              <a:buSzPts val="1600"/>
              <a:buChar char="➢"/>
            </a:pPr>
            <a:r>
              <a:rPr lang="en-US"/>
              <a:t>Hamilton and Verstappen stands out</a:t>
            </a:r>
            <a:endParaRPr/>
          </a:p>
        </p:txBody>
      </p:sp>
      <p:pic>
        <p:nvPicPr>
          <p:cNvPr id="239" name="Google Shape;239;p30"/>
          <p:cNvPicPr preferRelativeResize="0"/>
          <p:nvPr/>
        </p:nvPicPr>
        <p:blipFill>
          <a:blip r:embed="rId3">
            <a:alphaModFix/>
          </a:blip>
          <a:stretch>
            <a:fillRect/>
          </a:stretch>
        </p:blipFill>
        <p:spPr>
          <a:xfrm>
            <a:off x="5268907" y="0"/>
            <a:ext cx="6923094" cy="6858001"/>
          </a:xfrm>
          <a:prstGeom prst="rect">
            <a:avLst/>
          </a:prstGeom>
          <a:noFill/>
          <a:ln>
            <a:noFill/>
          </a:ln>
        </p:spPr>
      </p:pic>
      <p:sp>
        <p:nvSpPr>
          <p:cNvPr id="240" name="Google Shape;240;p30"/>
          <p:cNvSpPr/>
          <p:nvPr/>
        </p:nvSpPr>
        <p:spPr>
          <a:xfrm>
            <a:off x="10764000" y="2970125"/>
            <a:ext cx="6459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
        <p:nvSpPr>
          <p:cNvPr id="241" name="Google Shape;241;p30"/>
          <p:cNvSpPr/>
          <p:nvPr/>
        </p:nvSpPr>
        <p:spPr>
          <a:xfrm>
            <a:off x="9381575" y="4327925"/>
            <a:ext cx="538500" cy="1093200"/>
          </a:xfrm>
          <a:prstGeom prst="rect">
            <a:avLst/>
          </a:prstGeom>
          <a:noFill/>
          <a:ln cap="flat" cmpd="sng" w="9525">
            <a:solidFill>
              <a:srgbClr val="DD03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
              <a:ea typeface="Play"/>
              <a:cs typeface="Play"/>
              <a:sym typeface="Pl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Heatmaps</a:t>
            </a:r>
            <a:endParaRPr/>
          </a:p>
        </p:txBody>
      </p:sp>
      <p:pic>
        <p:nvPicPr>
          <p:cNvPr id="247" name="Google Shape;247;p31"/>
          <p:cNvPicPr preferRelativeResize="0"/>
          <p:nvPr/>
        </p:nvPicPr>
        <p:blipFill>
          <a:blip r:embed="rId3">
            <a:alphaModFix/>
          </a:blip>
          <a:stretch>
            <a:fillRect/>
          </a:stretch>
        </p:blipFill>
        <p:spPr>
          <a:xfrm>
            <a:off x="292825" y="2122500"/>
            <a:ext cx="5607676" cy="3488001"/>
          </a:xfrm>
          <a:prstGeom prst="rect">
            <a:avLst/>
          </a:prstGeom>
          <a:noFill/>
          <a:ln>
            <a:noFill/>
          </a:ln>
        </p:spPr>
      </p:pic>
      <p:pic>
        <p:nvPicPr>
          <p:cNvPr id="248" name="Google Shape;248;p31"/>
          <p:cNvPicPr preferRelativeResize="0"/>
          <p:nvPr/>
        </p:nvPicPr>
        <p:blipFill>
          <a:blip r:embed="rId4">
            <a:alphaModFix/>
          </a:blip>
          <a:stretch>
            <a:fillRect/>
          </a:stretch>
        </p:blipFill>
        <p:spPr>
          <a:xfrm>
            <a:off x="6291475" y="2122513"/>
            <a:ext cx="5607676" cy="348798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References</a:t>
            </a:r>
            <a:endParaRPr/>
          </a:p>
        </p:txBody>
      </p:sp>
      <p:sp>
        <p:nvSpPr>
          <p:cNvPr id="254" name="Google Shape;254;p32"/>
          <p:cNvSpPr txBox="1"/>
          <p:nvPr>
            <p:ph idx="1" type="body"/>
          </p:nvPr>
        </p:nvSpPr>
        <p:spPr>
          <a:xfrm>
            <a:off x="838200" y="1789611"/>
            <a:ext cx="10515600" cy="4387500"/>
          </a:xfrm>
          <a:prstGeom prst="rect">
            <a:avLst/>
          </a:prstGeom>
        </p:spPr>
        <p:txBody>
          <a:bodyPr anchorCtr="0" anchor="t" bIns="45700" lIns="91425" spcFirstLastPara="1" rIns="91425" wrap="square" tIns="45700">
            <a:normAutofit/>
          </a:bodyPr>
          <a:lstStyle/>
          <a:p>
            <a:pPr indent="-381000" lvl="0" marL="457200" rtl="0" algn="l">
              <a:lnSpc>
                <a:spcPct val="115000"/>
              </a:lnSpc>
              <a:spcBef>
                <a:spcPts val="0"/>
              </a:spcBef>
              <a:spcAft>
                <a:spcPts val="0"/>
              </a:spcAft>
              <a:buSzPts val="2400"/>
              <a:buFont typeface="Play"/>
              <a:buAutoNum type="arabicParenR"/>
            </a:pPr>
            <a:r>
              <a:rPr lang="en-US"/>
              <a:t>Driscoll, Finnegan. (September 12, 2022). Formula 1 in the US: What’s behind its rise in popularity? [</a:t>
            </a:r>
            <a:r>
              <a:rPr lang="en-US" u="sng">
                <a:solidFill>
                  <a:srgbClr val="1155CC"/>
                </a:solidFill>
                <a:hlinkClick r:id="rId3">
                  <a:extLst>
                    <a:ext uri="{A12FA001-AC4F-418D-AE19-62706E023703}">
                      <ahyp:hlinkClr val="tx"/>
                    </a:ext>
                  </a:extLst>
                </a:hlinkClick>
              </a:rPr>
              <a:t>RTR Sports Marketing</a:t>
            </a:r>
            <a:r>
              <a:rPr lang="en-US"/>
              <a:t>]</a:t>
            </a:r>
            <a:endParaRPr/>
          </a:p>
          <a:p>
            <a:pPr indent="-381000" lvl="0" marL="457200" rtl="0" algn="l">
              <a:lnSpc>
                <a:spcPct val="115000"/>
              </a:lnSpc>
              <a:spcBef>
                <a:spcPts val="0"/>
              </a:spcBef>
              <a:spcAft>
                <a:spcPts val="0"/>
              </a:spcAft>
              <a:buSzPts val="2400"/>
              <a:buFont typeface="Play"/>
              <a:buAutoNum type="arabicParenR"/>
            </a:pPr>
            <a:r>
              <a:rPr lang="en-US"/>
              <a:t>Brown, Maury. (March 29, 2023). Inside The Numbers That Show Formula 1’s Popularity And Financial Growth. [</a:t>
            </a:r>
            <a:r>
              <a:rPr lang="en-US" u="sng">
                <a:solidFill>
                  <a:srgbClr val="1155CC"/>
                </a:solidFill>
                <a:hlinkClick r:id="rId4">
                  <a:extLst>
                    <a:ext uri="{A12FA001-AC4F-418D-AE19-62706E023703}">
                      <ahyp:hlinkClr val="tx"/>
                    </a:ext>
                  </a:extLst>
                </a:hlinkClick>
              </a:rPr>
              <a:t>Forbes</a:t>
            </a:r>
            <a:r>
              <a:rPr lang="en-US"/>
              <a:t>]</a:t>
            </a:r>
            <a:endParaRPr/>
          </a:p>
          <a:p>
            <a:pPr indent="-381000" lvl="0" marL="457200" rtl="0" algn="l">
              <a:lnSpc>
                <a:spcPct val="115000"/>
              </a:lnSpc>
              <a:spcBef>
                <a:spcPts val="0"/>
              </a:spcBef>
              <a:spcAft>
                <a:spcPts val="0"/>
              </a:spcAft>
              <a:buSzPts val="2400"/>
              <a:buFont typeface="Play"/>
              <a:buAutoNum type="arabicParenR"/>
            </a:pPr>
            <a:r>
              <a:rPr lang="en-US"/>
              <a:t>Hall, Andy. (March 3, 2023). Formula 1 Presents Unique Opportunities for Disney Advertisers. [</a:t>
            </a:r>
            <a:r>
              <a:rPr lang="en-US" u="sng">
                <a:solidFill>
                  <a:srgbClr val="1155CC"/>
                </a:solidFill>
                <a:hlinkClick r:id="rId5">
                  <a:extLst>
                    <a:ext uri="{A12FA001-AC4F-418D-AE19-62706E023703}">
                      <ahyp:hlinkClr val="tx"/>
                    </a:ext>
                  </a:extLst>
                </a:hlinkClick>
              </a:rPr>
              <a:t>ESPN</a:t>
            </a:r>
            <a:r>
              <a:rPr lang="en-US"/>
              <a:t>]</a:t>
            </a:r>
            <a:endParaRPr/>
          </a:p>
          <a:p>
            <a:pPr indent="-381000" lvl="0" marL="457200" rtl="0" algn="l">
              <a:lnSpc>
                <a:spcPct val="115000"/>
              </a:lnSpc>
              <a:spcBef>
                <a:spcPts val="0"/>
              </a:spcBef>
              <a:spcAft>
                <a:spcPts val="0"/>
              </a:spcAft>
              <a:buSzPts val="2400"/>
              <a:buFont typeface="Play"/>
              <a:buAutoNum type="arabicParenR"/>
            </a:pPr>
            <a:r>
              <a:rPr lang="en-US"/>
              <a:t>News Team. (2022). How Weather Affects Formula 1. [</a:t>
            </a:r>
            <a:r>
              <a:rPr lang="en-US" u="sng">
                <a:solidFill>
                  <a:srgbClr val="1155CC"/>
                </a:solidFill>
                <a:hlinkClick r:id="rId6">
                  <a:extLst>
                    <a:ext uri="{A12FA001-AC4F-418D-AE19-62706E023703}">
                      <ahyp:hlinkClr val="tx"/>
                    </a:ext>
                  </a:extLst>
                </a:hlinkClick>
              </a:rPr>
              <a:t>William Hill</a:t>
            </a:r>
            <a:r>
              <a:rPr lang="en-US"/>
              <a:t>]</a:t>
            </a:r>
            <a:endParaRPr/>
          </a:p>
          <a:p>
            <a:pPr indent="-381000" lvl="0" marL="457200" rtl="0" algn="l">
              <a:lnSpc>
                <a:spcPct val="115000"/>
              </a:lnSpc>
              <a:spcBef>
                <a:spcPts val="0"/>
              </a:spcBef>
              <a:spcAft>
                <a:spcPts val="0"/>
              </a:spcAft>
              <a:buSzPts val="2400"/>
              <a:buFont typeface="Play"/>
              <a:buAutoNum type="arabicParenR"/>
            </a:pPr>
            <a:r>
              <a:rPr lang="en-US"/>
              <a:t>Ergast Developer API. n.d. API Documentation. [</a:t>
            </a:r>
            <a:r>
              <a:rPr lang="en-US" u="sng">
                <a:solidFill>
                  <a:srgbClr val="1155CC"/>
                </a:solidFill>
                <a:hlinkClick r:id="rId7">
                  <a:extLst>
                    <a:ext uri="{A12FA001-AC4F-418D-AE19-62706E023703}">
                      <ahyp:hlinkClr val="tx"/>
                    </a:ext>
                  </a:extLst>
                </a:hlinkClick>
              </a:rPr>
              <a:t>Ergast</a:t>
            </a:r>
            <a:r>
              <a:rPr lang="en-US"/>
              <a:t>]</a:t>
            </a:r>
            <a:endParaRPr/>
          </a:p>
          <a:p>
            <a:pPr indent="-381000" lvl="0" marL="457200" rtl="0" algn="l">
              <a:lnSpc>
                <a:spcPct val="115000"/>
              </a:lnSpc>
              <a:spcBef>
                <a:spcPts val="0"/>
              </a:spcBef>
              <a:spcAft>
                <a:spcPts val="0"/>
              </a:spcAft>
              <a:buSzPts val="2400"/>
              <a:buFont typeface="Play"/>
              <a:buAutoNum type="arabicParenR"/>
            </a:pPr>
            <a:r>
              <a:rPr lang="en-US"/>
              <a:t>Open-Meteo. N.d. Free Weather API. [</a:t>
            </a:r>
            <a:r>
              <a:rPr lang="en-US" u="sng">
                <a:solidFill>
                  <a:srgbClr val="1155CC"/>
                </a:solidFill>
                <a:hlinkClick r:id="rId8">
                  <a:extLst>
                    <a:ext uri="{A12FA001-AC4F-418D-AE19-62706E023703}">
                      <ahyp:hlinkClr val="tx"/>
                    </a:ext>
                  </a:extLst>
                </a:hlinkClick>
              </a:rPr>
              <a:t>Open-Meteo</a:t>
            </a:r>
            <a:r>
              <a:rPr lang="en-US"/>
              <a:t>]</a:t>
            </a:r>
            <a:endParaRPr/>
          </a:p>
          <a:p>
            <a:pPr indent="-381000" lvl="0" marL="457200" rtl="0" algn="l">
              <a:lnSpc>
                <a:spcPct val="115000"/>
              </a:lnSpc>
              <a:spcBef>
                <a:spcPts val="0"/>
              </a:spcBef>
              <a:spcAft>
                <a:spcPts val="0"/>
              </a:spcAft>
              <a:buSzPts val="2400"/>
              <a:buFont typeface="Play"/>
              <a:buAutoNum type="arabicParenR"/>
            </a:pPr>
            <a:r>
              <a:rPr lang="en-US"/>
              <a:t>IMDB Drive to Survive [</a:t>
            </a:r>
            <a:r>
              <a:rPr lang="en-US" u="sng">
                <a:solidFill>
                  <a:srgbClr val="0000FF"/>
                </a:solidFill>
                <a:hlinkClick r:id="rId9">
                  <a:extLst>
                    <a:ext uri="{A12FA001-AC4F-418D-AE19-62706E023703}">
                      <ahyp:hlinkClr val="tx"/>
                    </a:ext>
                  </a:extLst>
                </a:hlinkClick>
              </a:rPr>
              <a:t>IMDB</a:t>
            </a:r>
            <a:r>
              <a:rPr lang="en-US"/>
              <a: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